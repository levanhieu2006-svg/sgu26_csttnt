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23"/>
  </p:notesMasterIdLst>
  <p:handoutMasterIdLst>
    <p:handoutMasterId r:id="rId24"/>
  </p:handoutMasterIdLst>
  <p:sldIdLst>
    <p:sldId id="1497" r:id="rId5"/>
    <p:sldId id="1514" r:id="rId6"/>
    <p:sldId id="1499" r:id="rId7"/>
    <p:sldId id="1515" r:id="rId8"/>
    <p:sldId id="1526" r:id="rId9"/>
    <p:sldId id="1516" r:id="rId10"/>
    <p:sldId id="1500" r:id="rId11"/>
    <p:sldId id="1502" r:id="rId12"/>
    <p:sldId id="1517" r:id="rId13"/>
    <p:sldId id="1518" r:id="rId14"/>
    <p:sldId id="1519" r:id="rId15"/>
    <p:sldId id="1525" r:id="rId16"/>
    <p:sldId id="1511" r:id="rId17"/>
    <p:sldId id="1520" r:id="rId18"/>
    <p:sldId id="1521" r:id="rId19"/>
    <p:sldId id="1522" r:id="rId20"/>
    <p:sldId id="1523" r:id="rId21"/>
    <p:sldId id="152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079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D2C506-A169-4D38-97E3-A850C325770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D13907-AEFD-496E-BE00-B9ED4BFBD00B}">
      <dgm:prSet/>
      <dgm:spPr/>
      <dgm:t>
        <a:bodyPr/>
        <a:lstStyle/>
        <a:p>
          <a:r>
            <a:rPr lang="en-US" b="1" i="0" baseline="0"/>
            <a:t>Bài toán:</a:t>
          </a:r>
          <a:r>
            <a:rPr lang="en-US" b="0" i="0" baseline="0"/>
            <a:t> Phân loại nhị phân (Binary Classification).</a:t>
          </a:r>
          <a:endParaRPr lang="en-US"/>
        </a:p>
      </dgm:t>
    </dgm:pt>
    <dgm:pt modelId="{D43805F5-CE05-43DF-97A9-A4852FF9F396}" type="parTrans" cxnId="{977AE1F5-1367-4AF5-A9E2-01C1277380F8}">
      <dgm:prSet/>
      <dgm:spPr/>
      <dgm:t>
        <a:bodyPr/>
        <a:lstStyle/>
        <a:p>
          <a:endParaRPr lang="en-US"/>
        </a:p>
      </dgm:t>
    </dgm:pt>
    <dgm:pt modelId="{638C7509-26AB-44FA-91A6-E769EC14F598}" type="sibTrans" cxnId="{977AE1F5-1367-4AF5-A9E2-01C1277380F8}">
      <dgm:prSet/>
      <dgm:spPr/>
      <dgm:t>
        <a:bodyPr/>
        <a:lstStyle/>
        <a:p>
          <a:endParaRPr lang="en-US"/>
        </a:p>
      </dgm:t>
    </dgm:pt>
    <dgm:pt modelId="{6BAD04FD-650C-4160-AB3B-368768E9E275}">
      <dgm:prSet/>
      <dgm:spPr/>
      <dgm:t>
        <a:bodyPr/>
        <a:lstStyle/>
        <a:p>
          <a:r>
            <a:rPr lang="en-US" b="0" i="0" baseline="0"/>
            <a:t>0: Không bị tiểu đường</a:t>
          </a:r>
          <a:endParaRPr lang="en-US"/>
        </a:p>
      </dgm:t>
    </dgm:pt>
    <dgm:pt modelId="{D6C17BB8-A1B6-4FC6-873B-0605C74CE27F}" type="parTrans" cxnId="{BA3BD52A-9D36-455A-8DF0-B867556B570F}">
      <dgm:prSet/>
      <dgm:spPr/>
      <dgm:t>
        <a:bodyPr/>
        <a:lstStyle/>
        <a:p>
          <a:endParaRPr lang="en-US"/>
        </a:p>
      </dgm:t>
    </dgm:pt>
    <dgm:pt modelId="{A366A8A8-6227-4E1C-AC5A-0E0E395253A7}" type="sibTrans" cxnId="{BA3BD52A-9D36-455A-8DF0-B867556B570F}">
      <dgm:prSet/>
      <dgm:spPr/>
      <dgm:t>
        <a:bodyPr/>
        <a:lstStyle/>
        <a:p>
          <a:endParaRPr lang="en-US"/>
        </a:p>
      </dgm:t>
    </dgm:pt>
    <dgm:pt modelId="{59F109F3-EC16-44DA-B8C4-21823A9CC5E9}">
      <dgm:prSet/>
      <dgm:spPr/>
      <dgm:t>
        <a:bodyPr/>
        <a:lstStyle/>
        <a:p>
          <a:r>
            <a:rPr lang="en-US" b="0" i="0" baseline="0"/>
            <a:t>1: Bị tiểu đường</a:t>
          </a:r>
          <a:endParaRPr lang="en-US"/>
        </a:p>
      </dgm:t>
    </dgm:pt>
    <dgm:pt modelId="{3C76163C-BE77-4073-BBF6-6E4C7847F35E}" type="parTrans" cxnId="{C9F1ABBF-0798-449C-9882-3AECC019E344}">
      <dgm:prSet/>
      <dgm:spPr/>
      <dgm:t>
        <a:bodyPr/>
        <a:lstStyle/>
        <a:p>
          <a:endParaRPr lang="en-US"/>
        </a:p>
      </dgm:t>
    </dgm:pt>
    <dgm:pt modelId="{C7FD6958-C6E3-4F0D-A308-A411ADF7B6AC}" type="sibTrans" cxnId="{C9F1ABBF-0798-449C-9882-3AECC019E344}">
      <dgm:prSet/>
      <dgm:spPr/>
      <dgm:t>
        <a:bodyPr/>
        <a:lstStyle/>
        <a:p>
          <a:endParaRPr lang="en-US"/>
        </a:p>
      </dgm:t>
    </dgm:pt>
    <dgm:pt modelId="{7A317AA2-ED51-4033-868F-72A59570E6CC}">
      <dgm:prSet/>
      <dgm:spPr/>
      <dgm:t>
        <a:bodyPr/>
        <a:lstStyle/>
        <a:p>
          <a:r>
            <a:rPr lang="en-US" b="1" i="0" baseline="0"/>
            <a:t>Mục tiêu chính:</a:t>
          </a:r>
          <a:r>
            <a:rPr lang="en-US" b="0" i="0" baseline="0"/>
            <a:t> Xây dựng mô hình học máy để dự đoán chính xác khả năng mắc bệnh dựa trên 8 đặc trưng y sinh.</a:t>
          </a:r>
          <a:endParaRPr lang="en-US"/>
        </a:p>
      </dgm:t>
    </dgm:pt>
    <dgm:pt modelId="{87AD58FB-1EAA-4E00-AA83-D09E4C22C608}" type="parTrans" cxnId="{7DBF8AE4-4F3E-4516-B8FB-7F72FD131D2C}">
      <dgm:prSet/>
      <dgm:spPr/>
      <dgm:t>
        <a:bodyPr/>
        <a:lstStyle/>
        <a:p>
          <a:endParaRPr lang="en-US"/>
        </a:p>
      </dgm:t>
    </dgm:pt>
    <dgm:pt modelId="{1040E5AB-CA0E-4EDC-BCE9-7D31E152A5ED}" type="sibTrans" cxnId="{7DBF8AE4-4F3E-4516-B8FB-7F72FD131D2C}">
      <dgm:prSet/>
      <dgm:spPr/>
      <dgm:t>
        <a:bodyPr/>
        <a:lstStyle/>
        <a:p>
          <a:endParaRPr lang="en-US"/>
        </a:p>
      </dgm:t>
    </dgm:pt>
    <dgm:pt modelId="{566304B9-7E89-4C41-A4F3-46CED8DFD457}">
      <dgm:prSet/>
      <dgm:spPr/>
      <dgm:t>
        <a:bodyPr/>
        <a:lstStyle/>
        <a:p>
          <a:r>
            <a:rPr lang="en-US" b="1" i="0" baseline="0"/>
            <a:t>Câu hỏi nghiên cứu trọng tâm:</a:t>
          </a:r>
          <a:endParaRPr lang="en-US"/>
        </a:p>
      </dgm:t>
    </dgm:pt>
    <dgm:pt modelId="{2CA49800-4B51-4D29-A6F1-DAF93BA07698}" type="parTrans" cxnId="{0ED9AF0B-7DD8-4C88-8764-119F04567AE2}">
      <dgm:prSet/>
      <dgm:spPr/>
      <dgm:t>
        <a:bodyPr/>
        <a:lstStyle/>
        <a:p>
          <a:endParaRPr lang="en-US"/>
        </a:p>
      </dgm:t>
    </dgm:pt>
    <dgm:pt modelId="{47FB424D-00B8-4E34-A304-F1130E2F3EE2}" type="sibTrans" cxnId="{0ED9AF0B-7DD8-4C88-8764-119F04567AE2}">
      <dgm:prSet/>
      <dgm:spPr/>
      <dgm:t>
        <a:bodyPr/>
        <a:lstStyle/>
        <a:p>
          <a:endParaRPr lang="en-US"/>
        </a:p>
      </dgm:t>
    </dgm:pt>
    <dgm:pt modelId="{A6864EB1-4A2E-42B5-B32C-1F13A2A3E4DC}">
      <dgm:prSet/>
      <dgm:spPr/>
      <dgm:t>
        <a:bodyPr/>
        <a:lstStyle/>
        <a:p>
          <a:r>
            <a:rPr lang="en-US" b="0" i="0" baseline="0"/>
            <a:t>Đặc trưng (Feature) nào đóng vai trò quan trọng nhất?</a:t>
          </a:r>
          <a:endParaRPr lang="en-US"/>
        </a:p>
      </dgm:t>
    </dgm:pt>
    <dgm:pt modelId="{958D4257-384F-40B6-8E67-52511E785686}" type="parTrans" cxnId="{CCB04605-D87E-43C0-AAB9-0F555ED4C3D6}">
      <dgm:prSet/>
      <dgm:spPr/>
      <dgm:t>
        <a:bodyPr/>
        <a:lstStyle/>
        <a:p>
          <a:endParaRPr lang="en-US"/>
        </a:p>
      </dgm:t>
    </dgm:pt>
    <dgm:pt modelId="{38D8B987-798B-41C7-8659-A7AB2AFA7802}" type="sibTrans" cxnId="{CCB04605-D87E-43C0-AAB9-0F555ED4C3D6}">
      <dgm:prSet/>
      <dgm:spPr/>
      <dgm:t>
        <a:bodyPr/>
        <a:lstStyle/>
        <a:p>
          <a:endParaRPr lang="en-US"/>
        </a:p>
      </dgm:t>
    </dgm:pt>
    <dgm:pt modelId="{4C6A224D-7D65-4FD9-96C7-1FF71CC68886}">
      <dgm:prSet/>
      <dgm:spPr/>
      <dgm:t>
        <a:bodyPr/>
        <a:lstStyle/>
        <a:p>
          <a:r>
            <a:rPr lang="en-US" b="0" i="0" baseline="0"/>
            <a:t>Mô hình Machine Learning nào mang lại hiệu suất tốt nhất?</a:t>
          </a:r>
          <a:endParaRPr lang="en-US"/>
        </a:p>
      </dgm:t>
    </dgm:pt>
    <dgm:pt modelId="{62DD0CB7-6AB8-4BF4-A2F5-3982A1D548DF}" type="parTrans" cxnId="{905241A2-32CF-4F21-93DA-A9257DDCA225}">
      <dgm:prSet/>
      <dgm:spPr/>
      <dgm:t>
        <a:bodyPr/>
        <a:lstStyle/>
        <a:p>
          <a:endParaRPr lang="en-US"/>
        </a:p>
      </dgm:t>
    </dgm:pt>
    <dgm:pt modelId="{C700BC3B-2824-4E02-8A7C-DEC89721D71C}" type="sibTrans" cxnId="{905241A2-32CF-4F21-93DA-A9257DDCA225}">
      <dgm:prSet/>
      <dgm:spPr/>
      <dgm:t>
        <a:bodyPr/>
        <a:lstStyle/>
        <a:p>
          <a:endParaRPr lang="en-US"/>
        </a:p>
      </dgm:t>
    </dgm:pt>
    <dgm:pt modelId="{3FF17ADC-AC57-4D26-8CBC-84EABFDC9E86}">
      <dgm:prSet/>
      <dgm:spPr/>
      <dgm:t>
        <a:bodyPr/>
        <a:lstStyle/>
        <a:p>
          <a:r>
            <a:rPr lang="en-US" b="0" i="0" baseline="0"/>
            <a:t>Dữ liệu có dễ dàng phân tách hay không?</a:t>
          </a:r>
          <a:endParaRPr lang="en-US"/>
        </a:p>
      </dgm:t>
    </dgm:pt>
    <dgm:pt modelId="{4297A6B4-63F6-440B-9742-6A4870DB11D2}" type="parTrans" cxnId="{945600E6-7AE3-4667-8E69-C92D6CC33A69}">
      <dgm:prSet/>
      <dgm:spPr/>
      <dgm:t>
        <a:bodyPr/>
        <a:lstStyle/>
        <a:p>
          <a:endParaRPr lang="en-US"/>
        </a:p>
      </dgm:t>
    </dgm:pt>
    <dgm:pt modelId="{82D26969-448A-4506-BFAA-B418C08DB3D7}" type="sibTrans" cxnId="{945600E6-7AE3-4667-8E69-C92D6CC33A69}">
      <dgm:prSet/>
      <dgm:spPr/>
      <dgm:t>
        <a:bodyPr/>
        <a:lstStyle/>
        <a:p>
          <a:endParaRPr lang="en-US"/>
        </a:p>
      </dgm:t>
    </dgm:pt>
    <dgm:pt modelId="{0C952752-789B-4784-9CD5-480B4080055A}" type="pres">
      <dgm:prSet presAssocID="{F7D2C506-A169-4D38-97E3-A850C325770E}" presName="vert0" presStyleCnt="0">
        <dgm:presLayoutVars>
          <dgm:dir/>
          <dgm:animOne val="branch"/>
          <dgm:animLvl val="lvl"/>
        </dgm:presLayoutVars>
      </dgm:prSet>
      <dgm:spPr/>
    </dgm:pt>
    <dgm:pt modelId="{8C312C3F-2031-4A7C-A3B1-92645B89BFCE}" type="pres">
      <dgm:prSet presAssocID="{6BD13907-AEFD-496E-BE00-B9ED4BFBD00B}" presName="thickLine" presStyleLbl="alignNode1" presStyleIdx="0" presStyleCnt="8"/>
      <dgm:spPr/>
    </dgm:pt>
    <dgm:pt modelId="{E99918DA-5825-494A-A5A7-BE88235E8B81}" type="pres">
      <dgm:prSet presAssocID="{6BD13907-AEFD-496E-BE00-B9ED4BFBD00B}" presName="horz1" presStyleCnt="0"/>
      <dgm:spPr/>
    </dgm:pt>
    <dgm:pt modelId="{0759F541-3D27-4AE6-9AD5-4A52E80CD4FE}" type="pres">
      <dgm:prSet presAssocID="{6BD13907-AEFD-496E-BE00-B9ED4BFBD00B}" presName="tx1" presStyleLbl="revTx" presStyleIdx="0" presStyleCnt="8"/>
      <dgm:spPr/>
    </dgm:pt>
    <dgm:pt modelId="{BDB0C288-4D10-449B-B87B-592F0941009F}" type="pres">
      <dgm:prSet presAssocID="{6BD13907-AEFD-496E-BE00-B9ED4BFBD00B}" presName="vert1" presStyleCnt="0"/>
      <dgm:spPr/>
    </dgm:pt>
    <dgm:pt modelId="{F0C5309A-6369-43F2-B046-099B12EDDCAE}" type="pres">
      <dgm:prSet presAssocID="{6BAD04FD-650C-4160-AB3B-368768E9E275}" presName="thickLine" presStyleLbl="alignNode1" presStyleIdx="1" presStyleCnt="8"/>
      <dgm:spPr/>
    </dgm:pt>
    <dgm:pt modelId="{E06020D1-9068-4915-BF92-ED3BAA77102E}" type="pres">
      <dgm:prSet presAssocID="{6BAD04FD-650C-4160-AB3B-368768E9E275}" presName="horz1" presStyleCnt="0"/>
      <dgm:spPr/>
    </dgm:pt>
    <dgm:pt modelId="{59B06A3D-691E-4040-9498-DEFB15E9E5EF}" type="pres">
      <dgm:prSet presAssocID="{6BAD04FD-650C-4160-AB3B-368768E9E275}" presName="tx1" presStyleLbl="revTx" presStyleIdx="1" presStyleCnt="8"/>
      <dgm:spPr/>
    </dgm:pt>
    <dgm:pt modelId="{F8D7D4AC-547C-4793-A4DC-494A1BF254A8}" type="pres">
      <dgm:prSet presAssocID="{6BAD04FD-650C-4160-AB3B-368768E9E275}" presName="vert1" presStyleCnt="0"/>
      <dgm:spPr/>
    </dgm:pt>
    <dgm:pt modelId="{A683AF9F-018D-4B32-8DCF-3D2BCDF3CA46}" type="pres">
      <dgm:prSet presAssocID="{59F109F3-EC16-44DA-B8C4-21823A9CC5E9}" presName="thickLine" presStyleLbl="alignNode1" presStyleIdx="2" presStyleCnt="8"/>
      <dgm:spPr/>
    </dgm:pt>
    <dgm:pt modelId="{55B17C51-6AAC-43B1-99AE-9546F29A380C}" type="pres">
      <dgm:prSet presAssocID="{59F109F3-EC16-44DA-B8C4-21823A9CC5E9}" presName="horz1" presStyleCnt="0"/>
      <dgm:spPr/>
    </dgm:pt>
    <dgm:pt modelId="{40E458B6-83CF-4E79-9E6D-552E78088FA1}" type="pres">
      <dgm:prSet presAssocID="{59F109F3-EC16-44DA-B8C4-21823A9CC5E9}" presName="tx1" presStyleLbl="revTx" presStyleIdx="2" presStyleCnt="8"/>
      <dgm:spPr/>
    </dgm:pt>
    <dgm:pt modelId="{4532F274-2E5D-4E8C-9D15-5BB16BFC316D}" type="pres">
      <dgm:prSet presAssocID="{59F109F3-EC16-44DA-B8C4-21823A9CC5E9}" presName="vert1" presStyleCnt="0"/>
      <dgm:spPr/>
    </dgm:pt>
    <dgm:pt modelId="{3C3BEC8F-A769-4538-A5D2-7FFEB48EBF83}" type="pres">
      <dgm:prSet presAssocID="{7A317AA2-ED51-4033-868F-72A59570E6CC}" presName="thickLine" presStyleLbl="alignNode1" presStyleIdx="3" presStyleCnt="8"/>
      <dgm:spPr/>
    </dgm:pt>
    <dgm:pt modelId="{CCF7E75E-D6AF-4F39-93B6-1F027E00C8AA}" type="pres">
      <dgm:prSet presAssocID="{7A317AA2-ED51-4033-868F-72A59570E6CC}" presName="horz1" presStyleCnt="0"/>
      <dgm:spPr/>
    </dgm:pt>
    <dgm:pt modelId="{D64DDBB3-79F6-42E6-8811-F51CFB78916E}" type="pres">
      <dgm:prSet presAssocID="{7A317AA2-ED51-4033-868F-72A59570E6CC}" presName="tx1" presStyleLbl="revTx" presStyleIdx="3" presStyleCnt="8"/>
      <dgm:spPr/>
    </dgm:pt>
    <dgm:pt modelId="{EAB4DD95-CDC7-423D-8FD5-EA5B8382E69A}" type="pres">
      <dgm:prSet presAssocID="{7A317AA2-ED51-4033-868F-72A59570E6CC}" presName="vert1" presStyleCnt="0"/>
      <dgm:spPr/>
    </dgm:pt>
    <dgm:pt modelId="{316B10C8-63E6-4E2A-99DB-C804DA3ECA21}" type="pres">
      <dgm:prSet presAssocID="{566304B9-7E89-4C41-A4F3-46CED8DFD457}" presName="thickLine" presStyleLbl="alignNode1" presStyleIdx="4" presStyleCnt="8"/>
      <dgm:spPr/>
    </dgm:pt>
    <dgm:pt modelId="{36C0C168-F06B-4A05-A7B6-1A1A646218CC}" type="pres">
      <dgm:prSet presAssocID="{566304B9-7E89-4C41-A4F3-46CED8DFD457}" presName="horz1" presStyleCnt="0"/>
      <dgm:spPr/>
    </dgm:pt>
    <dgm:pt modelId="{E25E960E-DBBF-40BF-9B99-651F4632C991}" type="pres">
      <dgm:prSet presAssocID="{566304B9-7E89-4C41-A4F3-46CED8DFD457}" presName="tx1" presStyleLbl="revTx" presStyleIdx="4" presStyleCnt="8"/>
      <dgm:spPr/>
    </dgm:pt>
    <dgm:pt modelId="{87E4F74D-8024-4756-AA17-542F7A4FD216}" type="pres">
      <dgm:prSet presAssocID="{566304B9-7E89-4C41-A4F3-46CED8DFD457}" presName="vert1" presStyleCnt="0"/>
      <dgm:spPr/>
    </dgm:pt>
    <dgm:pt modelId="{B908B81F-E75F-4564-B4A3-B6D8F0ED38E6}" type="pres">
      <dgm:prSet presAssocID="{A6864EB1-4A2E-42B5-B32C-1F13A2A3E4DC}" presName="thickLine" presStyleLbl="alignNode1" presStyleIdx="5" presStyleCnt="8"/>
      <dgm:spPr/>
    </dgm:pt>
    <dgm:pt modelId="{4034634C-7DFC-4AA0-A620-F7DAA2658A10}" type="pres">
      <dgm:prSet presAssocID="{A6864EB1-4A2E-42B5-B32C-1F13A2A3E4DC}" presName="horz1" presStyleCnt="0"/>
      <dgm:spPr/>
    </dgm:pt>
    <dgm:pt modelId="{0DDF84E0-E5D7-4106-85D7-2789BAA63A8E}" type="pres">
      <dgm:prSet presAssocID="{A6864EB1-4A2E-42B5-B32C-1F13A2A3E4DC}" presName="tx1" presStyleLbl="revTx" presStyleIdx="5" presStyleCnt="8"/>
      <dgm:spPr/>
    </dgm:pt>
    <dgm:pt modelId="{987C08A6-E835-45BF-9314-9E5B5EBB7AAE}" type="pres">
      <dgm:prSet presAssocID="{A6864EB1-4A2E-42B5-B32C-1F13A2A3E4DC}" presName="vert1" presStyleCnt="0"/>
      <dgm:spPr/>
    </dgm:pt>
    <dgm:pt modelId="{1FED3EF3-F601-46DE-B2FA-C70E817D0512}" type="pres">
      <dgm:prSet presAssocID="{4C6A224D-7D65-4FD9-96C7-1FF71CC68886}" presName="thickLine" presStyleLbl="alignNode1" presStyleIdx="6" presStyleCnt="8"/>
      <dgm:spPr/>
    </dgm:pt>
    <dgm:pt modelId="{A7953991-92E8-4BDD-90CC-E6C4903D3318}" type="pres">
      <dgm:prSet presAssocID="{4C6A224D-7D65-4FD9-96C7-1FF71CC68886}" presName="horz1" presStyleCnt="0"/>
      <dgm:spPr/>
    </dgm:pt>
    <dgm:pt modelId="{A8772986-7D98-4A7D-A834-2897C96D76DD}" type="pres">
      <dgm:prSet presAssocID="{4C6A224D-7D65-4FD9-96C7-1FF71CC68886}" presName="tx1" presStyleLbl="revTx" presStyleIdx="6" presStyleCnt="8"/>
      <dgm:spPr/>
    </dgm:pt>
    <dgm:pt modelId="{C8305918-23B5-47D2-A0CE-F7C4543ACAE6}" type="pres">
      <dgm:prSet presAssocID="{4C6A224D-7D65-4FD9-96C7-1FF71CC68886}" presName="vert1" presStyleCnt="0"/>
      <dgm:spPr/>
    </dgm:pt>
    <dgm:pt modelId="{EE268301-A116-42FD-B6D9-6039498A8E5A}" type="pres">
      <dgm:prSet presAssocID="{3FF17ADC-AC57-4D26-8CBC-84EABFDC9E86}" presName="thickLine" presStyleLbl="alignNode1" presStyleIdx="7" presStyleCnt="8"/>
      <dgm:spPr/>
    </dgm:pt>
    <dgm:pt modelId="{1C13DD61-44B4-499E-9F61-E7537E6148A3}" type="pres">
      <dgm:prSet presAssocID="{3FF17ADC-AC57-4D26-8CBC-84EABFDC9E86}" presName="horz1" presStyleCnt="0"/>
      <dgm:spPr/>
    </dgm:pt>
    <dgm:pt modelId="{14CC9A11-A180-4ED2-98D1-C5A659FD8B49}" type="pres">
      <dgm:prSet presAssocID="{3FF17ADC-AC57-4D26-8CBC-84EABFDC9E86}" presName="tx1" presStyleLbl="revTx" presStyleIdx="7" presStyleCnt="8"/>
      <dgm:spPr/>
    </dgm:pt>
    <dgm:pt modelId="{780D5CF9-104A-4436-AE17-023834735CC1}" type="pres">
      <dgm:prSet presAssocID="{3FF17ADC-AC57-4D26-8CBC-84EABFDC9E86}" presName="vert1" presStyleCnt="0"/>
      <dgm:spPr/>
    </dgm:pt>
  </dgm:ptLst>
  <dgm:cxnLst>
    <dgm:cxn modelId="{CCB04605-D87E-43C0-AAB9-0F555ED4C3D6}" srcId="{F7D2C506-A169-4D38-97E3-A850C325770E}" destId="{A6864EB1-4A2E-42B5-B32C-1F13A2A3E4DC}" srcOrd="5" destOrd="0" parTransId="{958D4257-384F-40B6-8E67-52511E785686}" sibTransId="{38D8B987-798B-41C7-8659-A7AB2AFA7802}"/>
    <dgm:cxn modelId="{0ED9AF0B-7DD8-4C88-8764-119F04567AE2}" srcId="{F7D2C506-A169-4D38-97E3-A850C325770E}" destId="{566304B9-7E89-4C41-A4F3-46CED8DFD457}" srcOrd="4" destOrd="0" parTransId="{2CA49800-4B51-4D29-A6F1-DAF93BA07698}" sibTransId="{47FB424D-00B8-4E34-A304-F1130E2F3EE2}"/>
    <dgm:cxn modelId="{BA3BD52A-9D36-455A-8DF0-B867556B570F}" srcId="{F7D2C506-A169-4D38-97E3-A850C325770E}" destId="{6BAD04FD-650C-4160-AB3B-368768E9E275}" srcOrd="1" destOrd="0" parTransId="{D6C17BB8-A1B6-4FC6-873B-0605C74CE27F}" sibTransId="{A366A8A8-6227-4E1C-AC5A-0E0E395253A7}"/>
    <dgm:cxn modelId="{ACC65A37-D3BE-44D7-BBC9-45F98463300B}" type="presOf" srcId="{A6864EB1-4A2E-42B5-B32C-1F13A2A3E4DC}" destId="{0DDF84E0-E5D7-4106-85D7-2789BAA63A8E}" srcOrd="0" destOrd="0" presId="urn:microsoft.com/office/officeart/2008/layout/LinedList"/>
    <dgm:cxn modelId="{BA92AE3A-3183-46E6-ADF1-36034FA12019}" type="presOf" srcId="{4C6A224D-7D65-4FD9-96C7-1FF71CC68886}" destId="{A8772986-7D98-4A7D-A834-2897C96D76DD}" srcOrd="0" destOrd="0" presId="urn:microsoft.com/office/officeart/2008/layout/LinedList"/>
    <dgm:cxn modelId="{A16AED62-A189-4002-81DA-643C4847CB64}" type="presOf" srcId="{3FF17ADC-AC57-4D26-8CBC-84EABFDC9E86}" destId="{14CC9A11-A180-4ED2-98D1-C5A659FD8B49}" srcOrd="0" destOrd="0" presId="urn:microsoft.com/office/officeart/2008/layout/LinedList"/>
    <dgm:cxn modelId="{0DA22357-E0BD-4EE6-B3E6-4BB825C81A21}" type="presOf" srcId="{59F109F3-EC16-44DA-B8C4-21823A9CC5E9}" destId="{40E458B6-83CF-4E79-9E6D-552E78088FA1}" srcOrd="0" destOrd="0" presId="urn:microsoft.com/office/officeart/2008/layout/LinedList"/>
    <dgm:cxn modelId="{70FE1D9C-B3DA-4E8E-B425-81E56AC73ED3}" type="presOf" srcId="{566304B9-7E89-4C41-A4F3-46CED8DFD457}" destId="{E25E960E-DBBF-40BF-9B99-651F4632C991}" srcOrd="0" destOrd="0" presId="urn:microsoft.com/office/officeart/2008/layout/LinedList"/>
    <dgm:cxn modelId="{905241A2-32CF-4F21-93DA-A9257DDCA225}" srcId="{F7D2C506-A169-4D38-97E3-A850C325770E}" destId="{4C6A224D-7D65-4FD9-96C7-1FF71CC68886}" srcOrd="6" destOrd="0" parTransId="{62DD0CB7-6AB8-4BF4-A2F5-3982A1D548DF}" sibTransId="{C700BC3B-2824-4E02-8A7C-DEC89721D71C}"/>
    <dgm:cxn modelId="{C06DDFAE-7100-4671-8690-31BF6A3E844C}" type="presOf" srcId="{7A317AA2-ED51-4033-868F-72A59570E6CC}" destId="{D64DDBB3-79F6-42E6-8811-F51CFB78916E}" srcOrd="0" destOrd="0" presId="urn:microsoft.com/office/officeart/2008/layout/LinedList"/>
    <dgm:cxn modelId="{E0E7AAAF-EA0E-4AF9-A8DD-F0316FDC8157}" type="presOf" srcId="{6BD13907-AEFD-496E-BE00-B9ED4BFBD00B}" destId="{0759F541-3D27-4AE6-9AD5-4A52E80CD4FE}" srcOrd="0" destOrd="0" presId="urn:microsoft.com/office/officeart/2008/layout/LinedList"/>
    <dgm:cxn modelId="{C9F1ABBF-0798-449C-9882-3AECC019E344}" srcId="{F7D2C506-A169-4D38-97E3-A850C325770E}" destId="{59F109F3-EC16-44DA-B8C4-21823A9CC5E9}" srcOrd="2" destOrd="0" parTransId="{3C76163C-BE77-4073-BBF6-6E4C7847F35E}" sibTransId="{C7FD6958-C6E3-4F0D-A308-A411ADF7B6AC}"/>
    <dgm:cxn modelId="{E74C24E4-3FDB-4869-A4E6-AD6D1512AAE0}" type="presOf" srcId="{F7D2C506-A169-4D38-97E3-A850C325770E}" destId="{0C952752-789B-4784-9CD5-480B4080055A}" srcOrd="0" destOrd="0" presId="urn:microsoft.com/office/officeart/2008/layout/LinedList"/>
    <dgm:cxn modelId="{7DBF8AE4-4F3E-4516-B8FB-7F72FD131D2C}" srcId="{F7D2C506-A169-4D38-97E3-A850C325770E}" destId="{7A317AA2-ED51-4033-868F-72A59570E6CC}" srcOrd="3" destOrd="0" parTransId="{87AD58FB-1EAA-4E00-AA83-D09E4C22C608}" sibTransId="{1040E5AB-CA0E-4EDC-BCE9-7D31E152A5ED}"/>
    <dgm:cxn modelId="{945600E6-7AE3-4667-8E69-C92D6CC33A69}" srcId="{F7D2C506-A169-4D38-97E3-A850C325770E}" destId="{3FF17ADC-AC57-4D26-8CBC-84EABFDC9E86}" srcOrd="7" destOrd="0" parTransId="{4297A6B4-63F6-440B-9742-6A4870DB11D2}" sibTransId="{82D26969-448A-4506-BFAA-B418C08DB3D7}"/>
    <dgm:cxn modelId="{B34D68F2-8CC5-4144-B609-044D2A7EAC7B}" type="presOf" srcId="{6BAD04FD-650C-4160-AB3B-368768E9E275}" destId="{59B06A3D-691E-4040-9498-DEFB15E9E5EF}" srcOrd="0" destOrd="0" presId="urn:microsoft.com/office/officeart/2008/layout/LinedList"/>
    <dgm:cxn modelId="{977AE1F5-1367-4AF5-A9E2-01C1277380F8}" srcId="{F7D2C506-A169-4D38-97E3-A850C325770E}" destId="{6BD13907-AEFD-496E-BE00-B9ED4BFBD00B}" srcOrd="0" destOrd="0" parTransId="{D43805F5-CE05-43DF-97A9-A4852FF9F396}" sibTransId="{638C7509-26AB-44FA-91A6-E769EC14F598}"/>
    <dgm:cxn modelId="{0A4696FE-19FA-4AD4-8785-44160854A134}" type="presParOf" srcId="{0C952752-789B-4784-9CD5-480B4080055A}" destId="{8C312C3F-2031-4A7C-A3B1-92645B89BFCE}" srcOrd="0" destOrd="0" presId="urn:microsoft.com/office/officeart/2008/layout/LinedList"/>
    <dgm:cxn modelId="{6BFA24A7-B43A-4B20-B65A-A3974B0E3E08}" type="presParOf" srcId="{0C952752-789B-4784-9CD5-480B4080055A}" destId="{E99918DA-5825-494A-A5A7-BE88235E8B81}" srcOrd="1" destOrd="0" presId="urn:microsoft.com/office/officeart/2008/layout/LinedList"/>
    <dgm:cxn modelId="{DBFB4F78-C7EE-4CC9-9908-37D941662ED9}" type="presParOf" srcId="{E99918DA-5825-494A-A5A7-BE88235E8B81}" destId="{0759F541-3D27-4AE6-9AD5-4A52E80CD4FE}" srcOrd="0" destOrd="0" presId="urn:microsoft.com/office/officeart/2008/layout/LinedList"/>
    <dgm:cxn modelId="{0A226010-EE1F-4705-9136-35F7F23FEA40}" type="presParOf" srcId="{E99918DA-5825-494A-A5A7-BE88235E8B81}" destId="{BDB0C288-4D10-449B-B87B-592F0941009F}" srcOrd="1" destOrd="0" presId="urn:microsoft.com/office/officeart/2008/layout/LinedList"/>
    <dgm:cxn modelId="{8E3FB7C0-4F16-46C4-A939-B47262B0DCE1}" type="presParOf" srcId="{0C952752-789B-4784-9CD5-480B4080055A}" destId="{F0C5309A-6369-43F2-B046-099B12EDDCAE}" srcOrd="2" destOrd="0" presId="urn:microsoft.com/office/officeart/2008/layout/LinedList"/>
    <dgm:cxn modelId="{B6546D99-E111-4097-9284-F349EC5FB837}" type="presParOf" srcId="{0C952752-789B-4784-9CD5-480B4080055A}" destId="{E06020D1-9068-4915-BF92-ED3BAA77102E}" srcOrd="3" destOrd="0" presId="urn:microsoft.com/office/officeart/2008/layout/LinedList"/>
    <dgm:cxn modelId="{E31FE031-F017-43B7-A26A-21A8EBD61879}" type="presParOf" srcId="{E06020D1-9068-4915-BF92-ED3BAA77102E}" destId="{59B06A3D-691E-4040-9498-DEFB15E9E5EF}" srcOrd="0" destOrd="0" presId="urn:microsoft.com/office/officeart/2008/layout/LinedList"/>
    <dgm:cxn modelId="{367712BA-802C-4638-9BAB-855900BC7F15}" type="presParOf" srcId="{E06020D1-9068-4915-BF92-ED3BAA77102E}" destId="{F8D7D4AC-547C-4793-A4DC-494A1BF254A8}" srcOrd="1" destOrd="0" presId="urn:microsoft.com/office/officeart/2008/layout/LinedList"/>
    <dgm:cxn modelId="{31DFB404-C2A0-4D2F-AFCF-BA9ACE909B5E}" type="presParOf" srcId="{0C952752-789B-4784-9CD5-480B4080055A}" destId="{A683AF9F-018D-4B32-8DCF-3D2BCDF3CA46}" srcOrd="4" destOrd="0" presId="urn:microsoft.com/office/officeart/2008/layout/LinedList"/>
    <dgm:cxn modelId="{3D9C38C4-1DF1-4F34-AD84-EE4FC63EACD4}" type="presParOf" srcId="{0C952752-789B-4784-9CD5-480B4080055A}" destId="{55B17C51-6AAC-43B1-99AE-9546F29A380C}" srcOrd="5" destOrd="0" presId="urn:microsoft.com/office/officeart/2008/layout/LinedList"/>
    <dgm:cxn modelId="{7DB3226B-691E-48C1-B422-36083C967193}" type="presParOf" srcId="{55B17C51-6AAC-43B1-99AE-9546F29A380C}" destId="{40E458B6-83CF-4E79-9E6D-552E78088FA1}" srcOrd="0" destOrd="0" presId="urn:microsoft.com/office/officeart/2008/layout/LinedList"/>
    <dgm:cxn modelId="{1ABBF74A-CA9C-48FB-B085-BA4165097634}" type="presParOf" srcId="{55B17C51-6AAC-43B1-99AE-9546F29A380C}" destId="{4532F274-2E5D-4E8C-9D15-5BB16BFC316D}" srcOrd="1" destOrd="0" presId="urn:microsoft.com/office/officeart/2008/layout/LinedList"/>
    <dgm:cxn modelId="{39DAA550-4BA7-4E56-ABCE-B75C03253CF2}" type="presParOf" srcId="{0C952752-789B-4784-9CD5-480B4080055A}" destId="{3C3BEC8F-A769-4538-A5D2-7FFEB48EBF83}" srcOrd="6" destOrd="0" presId="urn:microsoft.com/office/officeart/2008/layout/LinedList"/>
    <dgm:cxn modelId="{E32BDA15-A22D-4D8F-BA74-7D66DD02ACDA}" type="presParOf" srcId="{0C952752-789B-4784-9CD5-480B4080055A}" destId="{CCF7E75E-D6AF-4F39-93B6-1F027E00C8AA}" srcOrd="7" destOrd="0" presId="urn:microsoft.com/office/officeart/2008/layout/LinedList"/>
    <dgm:cxn modelId="{188A8D1C-F9CF-4AFA-9DAA-51E1AEB5D852}" type="presParOf" srcId="{CCF7E75E-D6AF-4F39-93B6-1F027E00C8AA}" destId="{D64DDBB3-79F6-42E6-8811-F51CFB78916E}" srcOrd="0" destOrd="0" presId="urn:microsoft.com/office/officeart/2008/layout/LinedList"/>
    <dgm:cxn modelId="{D0EFA4C1-F886-412E-B498-11365BDEE317}" type="presParOf" srcId="{CCF7E75E-D6AF-4F39-93B6-1F027E00C8AA}" destId="{EAB4DD95-CDC7-423D-8FD5-EA5B8382E69A}" srcOrd="1" destOrd="0" presId="urn:microsoft.com/office/officeart/2008/layout/LinedList"/>
    <dgm:cxn modelId="{E31161A9-E918-454F-9EE2-27D2E54024B3}" type="presParOf" srcId="{0C952752-789B-4784-9CD5-480B4080055A}" destId="{316B10C8-63E6-4E2A-99DB-C804DA3ECA21}" srcOrd="8" destOrd="0" presId="urn:microsoft.com/office/officeart/2008/layout/LinedList"/>
    <dgm:cxn modelId="{5A282CBC-FA93-41F8-A676-B6888B65317F}" type="presParOf" srcId="{0C952752-789B-4784-9CD5-480B4080055A}" destId="{36C0C168-F06B-4A05-A7B6-1A1A646218CC}" srcOrd="9" destOrd="0" presId="urn:microsoft.com/office/officeart/2008/layout/LinedList"/>
    <dgm:cxn modelId="{F57E277F-7943-4AEC-B088-9DA4676C9E33}" type="presParOf" srcId="{36C0C168-F06B-4A05-A7B6-1A1A646218CC}" destId="{E25E960E-DBBF-40BF-9B99-651F4632C991}" srcOrd="0" destOrd="0" presId="urn:microsoft.com/office/officeart/2008/layout/LinedList"/>
    <dgm:cxn modelId="{90E53E59-50CC-486B-A682-8B7F6D36E6DD}" type="presParOf" srcId="{36C0C168-F06B-4A05-A7B6-1A1A646218CC}" destId="{87E4F74D-8024-4756-AA17-542F7A4FD216}" srcOrd="1" destOrd="0" presId="urn:microsoft.com/office/officeart/2008/layout/LinedList"/>
    <dgm:cxn modelId="{D3F38486-61A8-4A6C-91BE-E187DB084E41}" type="presParOf" srcId="{0C952752-789B-4784-9CD5-480B4080055A}" destId="{B908B81F-E75F-4564-B4A3-B6D8F0ED38E6}" srcOrd="10" destOrd="0" presId="urn:microsoft.com/office/officeart/2008/layout/LinedList"/>
    <dgm:cxn modelId="{357513F3-329B-4495-ABD7-003709A669B5}" type="presParOf" srcId="{0C952752-789B-4784-9CD5-480B4080055A}" destId="{4034634C-7DFC-4AA0-A620-F7DAA2658A10}" srcOrd="11" destOrd="0" presId="urn:microsoft.com/office/officeart/2008/layout/LinedList"/>
    <dgm:cxn modelId="{85DBB7CB-9645-4478-9C9F-780FA6E6242B}" type="presParOf" srcId="{4034634C-7DFC-4AA0-A620-F7DAA2658A10}" destId="{0DDF84E0-E5D7-4106-85D7-2789BAA63A8E}" srcOrd="0" destOrd="0" presId="urn:microsoft.com/office/officeart/2008/layout/LinedList"/>
    <dgm:cxn modelId="{B3BC1E9E-9119-435A-9FC7-18BF3583663A}" type="presParOf" srcId="{4034634C-7DFC-4AA0-A620-F7DAA2658A10}" destId="{987C08A6-E835-45BF-9314-9E5B5EBB7AAE}" srcOrd="1" destOrd="0" presId="urn:microsoft.com/office/officeart/2008/layout/LinedList"/>
    <dgm:cxn modelId="{5A867359-4B59-4718-ABDE-87AE4B28FFAF}" type="presParOf" srcId="{0C952752-789B-4784-9CD5-480B4080055A}" destId="{1FED3EF3-F601-46DE-B2FA-C70E817D0512}" srcOrd="12" destOrd="0" presId="urn:microsoft.com/office/officeart/2008/layout/LinedList"/>
    <dgm:cxn modelId="{E3ADAC25-F5BD-4822-B816-AB1190974FAA}" type="presParOf" srcId="{0C952752-789B-4784-9CD5-480B4080055A}" destId="{A7953991-92E8-4BDD-90CC-E6C4903D3318}" srcOrd="13" destOrd="0" presId="urn:microsoft.com/office/officeart/2008/layout/LinedList"/>
    <dgm:cxn modelId="{E3C01310-25EC-48DB-92CE-0D15D180C919}" type="presParOf" srcId="{A7953991-92E8-4BDD-90CC-E6C4903D3318}" destId="{A8772986-7D98-4A7D-A834-2897C96D76DD}" srcOrd="0" destOrd="0" presId="urn:microsoft.com/office/officeart/2008/layout/LinedList"/>
    <dgm:cxn modelId="{D1E1B775-D288-45A6-852F-E382AE6EF99D}" type="presParOf" srcId="{A7953991-92E8-4BDD-90CC-E6C4903D3318}" destId="{C8305918-23B5-47D2-A0CE-F7C4543ACAE6}" srcOrd="1" destOrd="0" presId="urn:microsoft.com/office/officeart/2008/layout/LinedList"/>
    <dgm:cxn modelId="{413FE182-428E-4701-9EAA-69AD53AC01B2}" type="presParOf" srcId="{0C952752-789B-4784-9CD5-480B4080055A}" destId="{EE268301-A116-42FD-B6D9-6039498A8E5A}" srcOrd="14" destOrd="0" presId="urn:microsoft.com/office/officeart/2008/layout/LinedList"/>
    <dgm:cxn modelId="{E5EF881A-4661-482F-9E52-E7F8E5D76E73}" type="presParOf" srcId="{0C952752-789B-4784-9CD5-480B4080055A}" destId="{1C13DD61-44B4-499E-9F61-E7537E6148A3}" srcOrd="15" destOrd="0" presId="urn:microsoft.com/office/officeart/2008/layout/LinedList"/>
    <dgm:cxn modelId="{85D422CD-D270-420D-B7A6-528BD0FF0258}" type="presParOf" srcId="{1C13DD61-44B4-499E-9F61-E7537E6148A3}" destId="{14CC9A11-A180-4ED2-98D1-C5A659FD8B49}" srcOrd="0" destOrd="0" presId="urn:microsoft.com/office/officeart/2008/layout/LinedList"/>
    <dgm:cxn modelId="{9E05AC18-3470-4C02-8D95-41D257538298}" type="presParOf" srcId="{1C13DD61-44B4-499E-9F61-E7537E6148A3}" destId="{780D5CF9-104A-4436-AE17-023834735C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A58F03-B1B9-4ACF-8FEF-90B3FC46022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23DDA7FE-D190-4EDE-9D71-5A783EC73E65}">
      <dgm:prSet/>
      <dgm:spPr/>
      <dgm:t>
        <a:bodyPr/>
        <a:lstStyle/>
        <a:p>
          <a:r>
            <a:rPr lang="en-US" b="1" i="0" baseline="0"/>
            <a:t>Combo đặc trưng mạnh nhất:</a:t>
          </a:r>
          <a:endParaRPr lang="en-US"/>
        </a:p>
      </dgm:t>
    </dgm:pt>
    <dgm:pt modelId="{415AFD70-B28C-4836-A9D4-F67AEA38C514}" type="parTrans" cxnId="{E8B5FA79-21CB-4ED3-82EE-4BBAF08FCD6C}">
      <dgm:prSet/>
      <dgm:spPr/>
      <dgm:t>
        <a:bodyPr/>
        <a:lstStyle/>
        <a:p>
          <a:endParaRPr lang="en-US"/>
        </a:p>
      </dgm:t>
    </dgm:pt>
    <dgm:pt modelId="{3EFADFC8-8FBE-48B2-86EC-D519714A731A}" type="sibTrans" cxnId="{E8B5FA79-21CB-4ED3-82EE-4BBAF08FCD6C}">
      <dgm:prSet/>
      <dgm:spPr/>
      <dgm:t>
        <a:bodyPr/>
        <a:lstStyle/>
        <a:p>
          <a:endParaRPr lang="en-US"/>
        </a:p>
      </dgm:t>
    </dgm:pt>
    <dgm:pt modelId="{0CA09860-4B6C-4D42-9CB6-AD7AE20F3856}">
      <dgm:prSet/>
      <dgm:spPr/>
      <dgm:t>
        <a:bodyPr/>
        <a:lstStyle/>
        <a:p>
          <a:r>
            <a:rPr lang="en-US" b="1" i="0" baseline="0" dirty="0"/>
            <a:t>Glucose + Age:</a:t>
          </a:r>
          <a:r>
            <a:rPr lang="en-US" b="0" i="0" baseline="0" dirty="0"/>
            <a:t> </a:t>
          </a:r>
          <a:r>
            <a:rPr lang="en-US" b="0" i="0" baseline="0" dirty="0" err="1"/>
            <a:t>Phân</a:t>
          </a:r>
          <a:r>
            <a:rPr lang="en-US" b="0" i="0" baseline="0" dirty="0"/>
            <a:t> </a:t>
          </a:r>
          <a:r>
            <a:rPr lang="en-US" b="0" i="0" baseline="0" dirty="0" err="1"/>
            <a:t>tách</a:t>
          </a:r>
          <a:r>
            <a:rPr lang="en-US" b="0" i="0" baseline="0" dirty="0"/>
            <a:t> </a:t>
          </a:r>
          <a:r>
            <a:rPr lang="en-US" b="0" i="0" baseline="0" dirty="0" err="1"/>
            <a:t>tuyệt</a:t>
          </a:r>
          <a:r>
            <a:rPr lang="en-US" b="0" i="0" baseline="0" dirty="0"/>
            <a:t> </a:t>
          </a:r>
          <a:r>
            <a:rPr lang="en-US" b="0" i="0" baseline="0" dirty="0" err="1"/>
            <a:t>vời</a:t>
          </a:r>
          <a:r>
            <a:rPr lang="en-US" b="0" i="0" baseline="0" dirty="0"/>
            <a:t>. </a:t>
          </a:r>
          <a:r>
            <a:rPr lang="en-US" b="0" i="0" baseline="0" dirty="0" err="1"/>
            <a:t>Nồng</a:t>
          </a:r>
          <a:r>
            <a:rPr lang="en-US" b="0" i="0" baseline="0" dirty="0"/>
            <a:t> </a:t>
          </a:r>
          <a:r>
            <a:rPr lang="en-US" b="0" i="0" baseline="0" dirty="0" err="1"/>
            <a:t>độ</a:t>
          </a:r>
          <a:r>
            <a:rPr lang="en-US" b="0" i="0" baseline="0" dirty="0"/>
            <a:t> Glucose </a:t>
          </a:r>
          <a:r>
            <a:rPr lang="en-US" b="0" i="0" baseline="0" dirty="0" err="1"/>
            <a:t>cao</a:t>
          </a:r>
          <a:r>
            <a:rPr lang="en-US" b="0" i="0" baseline="0" dirty="0"/>
            <a:t> </a:t>
          </a:r>
          <a:r>
            <a:rPr lang="en-US" b="0" i="0" baseline="0" dirty="0" err="1"/>
            <a:t>kết</a:t>
          </a:r>
          <a:r>
            <a:rPr lang="en-US" b="0" i="0" baseline="0" dirty="0"/>
            <a:t> </a:t>
          </a:r>
          <a:r>
            <a:rPr lang="en-US" b="0" i="0" baseline="0" dirty="0" err="1"/>
            <a:t>hợp</a:t>
          </a:r>
          <a:r>
            <a:rPr lang="en-US" b="0" i="0" baseline="0" dirty="0"/>
            <a:t> </a:t>
          </a:r>
          <a:r>
            <a:rPr lang="en-US" b="0" i="0" baseline="0" dirty="0" err="1"/>
            <a:t>tuổi</a:t>
          </a:r>
          <a:r>
            <a:rPr lang="en-US" b="0" i="0" baseline="0" dirty="0"/>
            <a:t> </a:t>
          </a:r>
          <a:r>
            <a:rPr lang="en-US" b="0" i="0" baseline="0" dirty="0" err="1"/>
            <a:t>cao</a:t>
          </a:r>
          <a:r>
            <a:rPr lang="en-US" b="0" i="0" baseline="0" dirty="0"/>
            <a:t> </a:t>
          </a:r>
          <a:r>
            <a:rPr lang="en-US" b="0" i="0" baseline="0" dirty="0" err="1"/>
            <a:t>mở</a:t>
          </a:r>
          <a:r>
            <a:rPr lang="en-US" b="0" i="0" baseline="0" dirty="0"/>
            <a:t> </a:t>
          </a:r>
          <a:r>
            <a:rPr lang="en-US" b="0" i="0" baseline="0" dirty="0" err="1"/>
            <a:t>rộng</a:t>
          </a:r>
          <a:r>
            <a:rPr lang="en-US" b="0" i="0" baseline="0" dirty="0"/>
            <a:t> </a:t>
          </a:r>
          <a:r>
            <a:rPr lang="en-US" b="0" i="0" baseline="0" dirty="0" err="1"/>
            <a:t>vùng</a:t>
          </a:r>
          <a:r>
            <a:rPr lang="en-US" b="0" i="0" baseline="0" dirty="0"/>
            <a:t> </a:t>
          </a:r>
          <a:r>
            <a:rPr lang="en-US" b="0" i="0" baseline="0" dirty="0" err="1"/>
            <a:t>rủi</a:t>
          </a:r>
          <a:r>
            <a:rPr lang="en-US" b="0" i="0" baseline="0" dirty="0"/>
            <a:t> </a:t>
          </a:r>
          <a:r>
            <a:rPr lang="en-US" b="0" i="0" baseline="0" dirty="0" err="1"/>
            <a:t>ro</a:t>
          </a:r>
          <a:r>
            <a:rPr lang="en-US" b="0" i="0" baseline="0" dirty="0"/>
            <a:t> (</a:t>
          </a:r>
          <a:r>
            <a:rPr lang="en-US" b="0" i="0" baseline="0" dirty="0" err="1"/>
            <a:t>vùng</a:t>
          </a:r>
          <a:r>
            <a:rPr lang="en-US" b="0" i="0" baseline="0" dirty="0"/>
            <a:t> </a:t>
          </a:r>
          <a:r>
            <a:rPr lang="en-US" b="0" i="0" baseline="0" dirty="0" err="1"/>
            <a:t>màu</a:t>
          </a:r>
          <a:r>
            <a:rPr lang="en-US" b="0" i="0" baseline="0" dirty="0"/>
            <a:t> </a:t>
          </a:r>
          <a:r>
            <a:rPr lang="en-US" b="0" i="0" baseline="0" dirty="0" err="1"/>
            <a:t>tím</a:t>
          </a:r>
          <a:r>
            <a:rPr lang="en-US" b="0" i="0" baseline="0" dirty="0"/>
            <a:t>).</a:t>
          </a:r>
          <a:endParaRPr lang="en-US" dirty="0"/>
        </a:p>
      </dgm:t>
    </dgm:pt>
    <dgm:pt modelId="{C952347F-A759-4E81-BDFC-4BBB7AA625A2}" type="parTrans" cxnId="{966653A1-1FB6-48A2-A1B3-4B5BF25FF485}">
      <dgm:prSet/>
      <dgm:spPr/>
      <dgm:t>
        <a:bodyPr/>
        <a:lstStyle/>
        <a:p>
          <a:endParaRPr lang="en-US"/>
        </a:p>
      </dgm:t>
    </dgm:pt>
    <dgm:pt modelId="{3912BD50-418E-4919-8DD2-6F97EE36E607}" type="sibTrans" cxnId="{966653A1-1FB6-48A2-A1B3-4B5BF25FF485}">
      <dgm:prSet/>
      <dgm:spPr/>
      <dgm:t>
        <a:bodyPr/>
        <a:lstStyle/>
        <a:p>
          <a:endParaRPr lang="en-US"/>
        </a:p>
      </dgm:t>
    </dgm:pt>
    <dgm:pt modelId="{55BADD8C-02B9-4681-8D1D-E70100A50D8C}">
      <dgm:prSet/>
      <dgm:spPr/>
      <dgm:t>
        <a:bodyPr/>
        <a:lstStyle/>
        <a:p>
          <a:r>
            <a:rPr lang="en-US" b="1" i="0" baseline="0"/>
            <a:t>Glucose + BMI:</a:t>
          </a:r>
          <a:r>
            <a:rPr lang="en-US" b="0" i="0" baseline="0"/>
            <a:t> Rõ ràng, BMI cao làm bệ phóng tăng nguy cơ tiểu đường khi Glucose đã ở mức cảnh báo.</a:t>
          </a:r>
          <a:endParaRPr lang="en-US"/>
        </a:p>
      </dgm:t>
    </dgm:pt>
    <dgm:pt modelId="{5A556976-B7CC-489D-AD85-C394F13975A7}" type="parTrans" cxnId="{6920E133-5E28-4527-8DCD-A760A4410B73}">
      <dgm:prSet/>
      <dgm:spPr/>
      <dgm:t>
        <a:bodyPr/>
        <a:lstStyle/>
        <a:p>
          <a:endParaRPr lang="en-US"/>
        </a:p>
      </dgm:t>
    </dgm:pt>
    <dgm:pt modelId="{3D71F64F-8B43-4DF1-986F-24C341A9255E}" type="sibTrans" cxnId="{6920E133-5E28-4527-8DCD-A760A4410B73}">
      <dgm:prSet/>
      <dgm:spPr/>
      <dgm:t>
        <a:bodyPr/>
        <a:lstStyle/>
        <a:p>
          <a:endParaRPr lang="en-US"/>
        </a:p>
      </dgm:t>
    </dgm:pt>
    <dgm:pt modelId="{1AA947C2-3560-48B9-A7C5-7B0AC1A603E0}">
      <dgm:prSet/>
      <dgm:spPr/>
      <dgm:t>
        <a:bodyPr/>
        <a:lstStyle/>
        <a:p>
          <a:r>
            <a:rPr lang="en-US" b="1" i="0" baseline="0"/>
            <a:t>Đặc trưng yếu:</a:t>
          </a:r>
          <a:r>
            <a:rPr lang="en-US" b="0" i="0" baseline="0"/>
            <a:t> BloodPressure (Huyết áp) và Pregnancies (Số lần mang thai) tạo ra các ranh giới lộn xộn, trộn lẫn nhiều, đóng góp ít vào việc dự đoán chính xác.</a:t>
          </a:r>
          <a:endParaRPr lang="en-US"/>
        </a:p>
      </dgm:t>
    </dgm:pt>
    <dgm:pt modelId="{11F14E47-6B66-4CC3-B552-B7AED01150A6}" type="parTrans" cxnId="{9DE089F7-C9C7-4AA0-A05A-60ADD30BE41F}">
      <dgm:prSet/>
      <dgm:spPr/>
      <dgm:t>
        <a:bodyPr/>
        <a:lstStyle/>
        <a:p>
          <a:endParaRPr lang="en-US"/>
        </a:p>
      </dgm:t>
    </dgm:pt>
    <dgm:pt modelId="{859FE9A5-6D41-4257-A8C1-13D619F100DB}" type="sibTrans" cxnId="{9DE089F7-C9C7-4AA0-A05A-60ADD30BE41F}">
      <dgm:prSet/>
      <dgm:spPr/>
      <dgm:t>
        <a:bodyPr/>
        <a:lstStyle/>
        <a:p>
          <a:endParaRPr lang="en-US"/>
        </a:p>
      </dgm:t>
    </dgm:pt>
    <dgm:pt modelId="{693B7BA8-0676-4587-AEA9-FB6B10F2BC05}" type="pres">
      <dgm:prSet presAssocID="{D9A58F03-B1B9-4ACF-8FEF-90B3FC460220}" presName="Name0" presStyleCnt="0">
        <dgm:presLayoutVars>
          <dgm:dir/>
          <dgm:resizeHandles val="exact"/>
        </dgm:presLayoutVars>
      </dgm:prSet>
      <dgm:spPr/>
    </dgm:pt>
    <dgm:pt modelId="{22C7C864-4D52-478D-9465-E85D19166EAC}" type="pres">
      <dgm:prSet presAssocID="{23DDA7FE-D190-4EDE-9D71-5A783EC73E65}" presName="node" presStyleLbl="node1" presStyleIdx="0" presStyleCnt="4">
        <dgm:presLayoutVars>
          <dgm:bulletEnabled val="1"/>
        </dgm:presLayoutVars>
      </dgm:prSet>
      <dgm:spPr/>
    </dgm:pt>
    <dgm:pt modelId="{A5DDF48C-4EF5-4111-9087-A84934B5DFCE}" type="pres">
      <dgm:prSet presAssocID="{3EFADFC8-8FBE-48B2-86EC-D519714A731A}" presName="sibTrans" presStyleLbl="sibTrans1D1" presStyleIdx="0" presStyleCnt="3"/>
      <dgm:spPr/>
    </dgm:pt>
    <dgm:pt modelId="{BC1FC818-4737-4E92-9CD0-C49946966511}" type="pres">
      <dgm:prSet presAssocID="{3EFADFC8-8FBE-48B2-86EC-D519714A731A}" presName="connectorText" presStyleLbl="sibTrans1D1" presStyleIdx="0" presStyleCnt="3"/>
      <dgm:spPr/>
    </dgm:pt>
    <dgm:pt modelId="{91FAAC4B-E480-4D0A-B5B9-60986C4833D6}" type="pres">
      <dgm:prSet presAssocID="{0CA09860-4B6C-4D42-9CB6-AD7AE20F3856}" presName="node" presStyleLbl="node1" presStyleIdx="1" presStyleCnt="4">
        <dgm:presLayoutVars>
          <dgm:bulletEnabled val="1"/>
        </dgm:presLayoutVars>
      </dgm:prSet>
      <dgm:spPr/>
    </dgm:pt>
    <dgm:pt modelId="{26AC66A2-EDDB-4D73-8282-CCE8894CF61F}" type="pres">
      <dgm:prSet presAssocID="{3912BD50-418E-4919-8DD2-6F97EE36E607}" presName="sibTrans" presStyleLbl="sibTrans1D1" presStyleIdx="1" presStyleCnt="3"/>
      <dgm:spPr/>
    </dgm:pt>
    <dgm:pt modelId="{2523D3B9-771D-4D95-B347-718E48DFFEA3}" type="pres">
      <dgm:prSet presAssocID="{3912BD50-418E-4919-8DD2-6F97EE36E607}" presName="connectorText" presStyleLbl="sibTrans1D1" presStyleIdx="1" presStyleCnt="3"/>
      <dgm:spPr/>
    </dgm:pt>
    <dgm:pt modelId="{A6FB03DE-BE64-4828-A4F6-EC087D50596F}" type="pres">
      <dgm:prSet presAssocID="{55BADD8C-02B9-4681-8D1D-E70100A50D8C}" presName="node" presStyleLbl="node1" presStyleIdx="2" presStyleCnt="4">
        <dgm:presLayoutVars>
          <dgm:bulletEnabled val="1"/>
        </dgm:presLayoutVars>
      </dgm:prSet>
      <dgm:spPr/>
    </dgm:pt>
    <dgm:pt modelId="{6D41F40C-8701-4131-9214-7EF2459D4E49}" type="pres">
      <dgm:prSet presAssocID="{3D71F64F-8B43-4DF1-986F-24C341A9255E}" presName="sibTrans" presStyleLbl="sibTrans1D1" presStyleIdx="2" presStyleCnt="3"/>
      <dgm:spPr/>
    </dgm:pt>
    <dgm:pt modelId="{4038244B-0733-44ED-B3E4-DD6D6CEE76AD}" type="pres">
      <dgm:prSet presAssocID="{3D71F64F-8B43-4DF1-986F-24C341A9255E}" presName="connectorText" presStyleLbl="sibTrans1D1" presStyleIdx="2" presStyleCnt="3"/>
      <dgm:spPr/>
    </dgm:pt>
    <dgm:pt modelId="{DFAABF90-0F8A-4CAF-9DFB-377E98077AED}" type="pres">
      <dgm:prSet presAssocID="{1AA947C2-3560-48B9-A7C5-7B0AC1A603E0}" presName="node" presStyleLbl="node1" presStyleIdx="3" presStyleCnt="4">
        <dgm:presLayoutVars>
          <dgm:bulletEnabled val="1"/>
        </dgm:presLayoutVars>
      </dgm:prSet>
      <dgm:spPr/>
    </dgm:pt>
  </dgm:ptLst>
  <dgm:cxnLst>
    <dgm:cxn modelId="{65D9570E-8229-4E80-9027-D18ECCC4D947}" type="presOf" srcId="{3D71F64F-8B43-4DF1-986F-24C341A9255E}" destId="{4038244B-0733-44ED-B3E4-DD6D6CEE76AD}" srcOrd="1" destOrd="0" presId="urn:microsoft.com/office/officeart/2016/7/layout/RepeatingBendingProcessNew"/>
    <dgm:cxn modelId="{88118217-7DA9-441A-8341-869ACA0614C8}" type="presOf" srcId="{D9A58F03-B1B9-4ACF-8FEF-90B3FC460220}" destId="{693B7BA8-0676-4587-AEA9-FB6B10F2BC05}" srcOrd="0" destOrd="0" presId="urn:microsoft.com/office/officeart/2016/7/layout/RepeatingBendingProcessNew"/>
    <dgm:cxn modelId="{EDAFC317-8D8B-4D3F-B4B1-B1C7E5DD70FE}" type="presOf" srcId="{23DDA7FE-D190-4EDE-9D71-5A783EC73E65}" destId="{22C7C864-4D52-478D-9465-E85D19166EAC}" srcOrd="0" destOrd="0" presId="urn:microsoft.com/office/officeart/2016/7/layout/RepeatingBendingProcessNew"/>
    <dgm:cxn modelId="{6920E133-5E28-4527-8DCD-A760A4410B73}" srcId="{D9A58F03-B1B9-4ACF-8FEF-90B3FC460220}" destId="{55BADD8C-02B9-4681-8D1D-E70100A50D8C}" srcOrd="2" destOrd="0" parTransId="{5A556976-B7CC-489D-AD85-C394F13975A7}" sibTransId="{3D71F64F-8B43-4DF1-986F-24C341A9255E}"/>
    <dgm:cxn modelId="{DFFB5E40-DB5D-4F32-9460-6DA4904E12F9}" type="presOf" srcId="{0CA09860-4B6C-4D42-9CB6-AD7AE20F3856}" destId="{91FAAC4B-E480-4D0A-B5B9-60986C4833D6}" srcOrd="0" destOrd="0" presId="urn:microsoft.com/office/officeart/2016/7/layout/RepeatingBendingProcessNew"/>
    <dgm:cxn modelId="{0ED6C45C-0E1A-461D-90A0-C6E2B6CA7C3F}" type="presOf" srcId="{3D71F64F-8B43-4DF1-986F-24C341A9255E}" destId="{6D41F40C-8701-4131-9214-7EF2459D4E49}" srcOrd="0" destOrd="0" presId="urn:microsoft.com/office/officeart/2016/7/layout/RepeatingBendingProcessNew"/>
    <dgm:cxn modelId="{CC684A61-9244-4A75-8EED-9C36697C68E2}" type="presOf" srcId="{1AA947C2-3560-48B9-A7C5-7B0AC1A603E0}" destId="{DFAABF90-0F8A-4CAF-9DFB-377E98077AED}" srcOrd="0" destOrd="0" presId="urn:microsoft.com/office/officeart/2016/7/layout/RepeatingBendingProcessNew"/>
    <dgm:cxn modelId="{E8B5FA79-21CB-4ED3-82EE-4BBAF08FCD6C}" srcId="{D9A58F03-B1B9-4ACF-8FEF-90B3FC460220}" destId="{23DDA7FE-D190-4EDE-9D71-5A783EC73E65}" srcOrd="0" destOrd="0" parTransId="{415AFD70-B28C-4836-A9D4-F67AEA38C514}" sibTransId="{3EFADFC8-8FBE-48B2-86EC-D519714A731A}"/>
    <dgm:cxn modelId="{BE19379A-8639-4919-A3C4-4C37E51EFC91}" type="presOf" srcId="{3EFADFC8-8FBE-48B2-86EC-D519714A731A}" destId="{A5DDF48C-4EF5-4111-9087-A84934B5DFCE}" srcOrd="0" destOrd="0" presId="urn:microsoft.com/office/officeart/2016/7/layout/RepeatingBendingProcessNew"/>
    <dgm:cxn modelId="{966653A1-1FB6-48A2-A1B3-4B5BF25FF485}" srcId="{D9A58F03-B1B9-4ACF-8FEF-90B3FC460220}" destId="{0CA09860-4B6C-4D42-9CB6-AD7AE20F3856}" srcOrd="1" destOrd="0" parTransId="{C952347F-A759-4E81-BDFC-4BBB7AA625A2}" sibTransId="{3912BD50-418E-4919-8DD2-6F97EE36E607}"/>
    <dgm:cxn modelId="{768850BE-957C-4F06-A589-8DC112D17E57}" type="presOf" srcId="{3912BD50-418E-4919-8DD2-6F97EE36E607}" destId="{26AC66A2-EDDB-4D73-8282-CCE8894CF61F}" srcOrd="0" destOrd="0" presId="urn:microsoft.com/office/officeart/2016/7/layout/RepeatingBendingProcessNew"/>
    <dgm:cxn modelId="{8FCB12C3-6A02-4DEF-85EC-4DAD356FB57D}" type="presOf" srcId="{3912BD50-418E-4919-8DD2-6F97EE36E607}" destId="{2523D3B9-771D-4D95-B347-718E48DFFEA3}" srcOrd="1" destOrd="0" presId="urn:microsoft.com/office/officeart/2016/7/layout/RepeatingBendingProcessNew"/>
    <dgm:cxn modelId="{FCC128D9-DB29-448D-A3AF-EED1BE007A7C}" type="presOf" srcId="{55BADD8C-02B9-4681-8D1D-E70100A50D8C}" destId="{A6FB03DE-BE64-4828-A4F6-EC087D50596F}" srcOrd="0" destOrd="0" presId="urn:microsoft.com/office/officeart/2016/7/layout/RepeatingBendingProcessNew"/>
    <dgm:cxn modelId="{9DE089F7-C9C7-4AA0-A05A-60ADD30BE41F}" srcId="{D9A58F03-B1B9-4ACF-8FEF-90B3FC460220}" destId="{1AA947C2-3560-48B9-A7C5-7B0AC1A603E0}" srcOrd="3" destOrd="0" parTransId="{11F14E47-6B66-4CC3-B552-B7AED01150A6}" sibTransId="{859FE9A5-6D41-4257-A8C1-13D619F100DB}"/>
    <dgm:cxn modelId="{65014EFD-9CC2-4F0A-8DF9-25880C50C87E}" type="presOf" srcId="{3EFADFC8-8FBE-48B2-86EC-D519714A731A}" destId="{BC1FC818-4737-4E92-9CD0-C49946966511}" srcOrd="1" destOrd="0" presId="urn:microsoft.com/office/officeart/2016/7/layout/RepeatingBendingProcessNew"/>
    <dgm:cxn modelId="{0F0C4E3A-5524-46ED-B147-69A1D55C59C2}" type="presParOf" srcId="{693B7BA8-0676-4587-AEA9-FB6B10F2BC05}" destId="{22C7C864-4D52-478D-9465-E85D19166EAC}" srcOrd="0" destOrd="0" presId="urn:microsoft.com/office/officeart/2016/7/layout/RepeatingBendingProcessNew"/>
    <dgm:cxn modelId="{CA143308-D6C0-4924-AFA8-B6C540016945}" type="presParOf" srcId="{693B7BA8-0676-4587-AEA9-FB6B10F2BC05}" destId="{A5DDF48C-4EF5-4111-9087-A84934B5DFCE}" srcOrd="1" destOrd="0" presId="urn:microsoft.com/office/officeart/2016/7/layout/RepeatingBendingProcessNew"/>
    <dgm:cxn modelId="{67AC75F3-4847-4C32-ACBE-901C7E574304}" type="presParOf" srcId="{A5DDF48C-4EF5-4111-9087-A84934B5DFCE}" destId="{BC1FC818-4737-4E92-9CD0-C49946966511}" srcOrd="0" destOrd="0" presId="urn:microsoft.com/office/officeart/2016/7/layout/RepeatingBendingProcessNew"/>
    <dgm:cxn modelId="{441181F6-0CF8-4B6C-9012-326781B53042}" type="presParOf" srcId="{693B7BA8-0676-4587-AEA9-FB6B10F2BC05}" destId="{91FAAC4B-E480-4D0A-B5B9-60986C4833D6}" srcOrd="2" destOrd="0" presId="urn:microsoft.com/office/officeart/2016/7/layout/RepeatingBendingProcessNew"/>
    <dgm:cxn modelId="{1828C47D-72FF-4BD6-B263-3AB2CC8E56D2}" type="presParOf" srcId="{693B7BA8-0676-4587-AEA9-FB6B10F2BC05}" destId="{26AC66A2-EDDB-4D73-8282-CCE8894CF61F}" srcOrd="3" destOrd="0" presId="urn:microsoft.com/office/officeart/2016/7/layout/RepeatingBendingProcessNew"/>
    <dgm:cxn modelId="{A9140675-8F90-4C17-B4F0-953F2F668265}" type="presParOf" srcId="{26AC66A2-EDDB-4D73-8282-CCE8894CF61F}" destId="{2523D3B9-771D-4D95-B347-718E48DFFEA3}" srcOrd="0" destOrd="0" presId="urn:microsoft.com/office/officeart/2016/7/layout/RepeatingBendingProcessNew"/>
    <dgm:cxn modelId="{88A9D426-6601-4E49-9339-80017F91D417}" type="presParOf" srcId="{693B7BA8-0676-4587-AEA9-FB6B10F2BC05}" destId="{A6FB03DE-BE64-4828-A4F6-EC087D50596F}" srcOrd="4" destOrd="0" presId="urn:microsoft.com/office/officeart/2016/7/layout/RepeatingBendingProcessNew"/>
    <dgm:cxn modelId="{36EAE0E7-3FAE-4261-9B33-790B9076D586}" type="presParOf" srcId="{693B7BA8-0676-4587-AEA9-FB6B10F2BC05}" destId="{6D41F40C-8701-4131-9214-7EF2459D4E49}" srcOrd="5" destOrd="0" presId="urn:microsoft.com/office/officeart/2016/7/layout/RepeatingBendingProcessNew"/>
    <dgm:cxn modelId="{5873958D-8B73-427C-B187-E6C15E4FA9AC}" type="presParOf" srcId="{6D41F40C-8701-4131-9214-7EF2459D4E49}" destId="{4038244B-0733-44ED-B3E4-DD6D6CEE76AD}" srcOrd="0" destOrd="0" presId="urn:microsoft.com/office/officeart/2016/7/layout/RepeatingBendingProcessNew"/>
    <dgm:cxn modelId="{D76F026F-0DB4-409D-991B-5C6C3B884743}" type="presParOf" srcId="{693B7BA8-0676-4587-AEA9-FB6B10F2BC05}" destId="{DFAABF90-0F8A-4CAF-9DFB-377E98077AED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11EF83-A733-4337-87D1-9C05F0C81CF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86BCDD4-4C4B-4482-8887-40B29864FA21}">
      <dgm:prSet/>
      <dgm:spPr/>
      <dgm:t>
        <a:bodyPr/>
        <a:lstStyle/>
        <a:p>
          <a:r>
            <a:rPr lang="en-US" b="1" i="0" baseline="0"/>
            <a:t>Mô hình tốt nhất?</a:t>
          </a:r>
          <a:r>
            <a:rPr lang="en-US" b="0" i="0" baseline="0"/>
            <a:t> Support Vector Machine (SVM) và Logistic Regression cho hiệu suất cao và ổn định nhất trên tập dữ liệu này.</a:t>
          </a:r>
          <a:endParaRPr lang="en-US"/>
        </a:p>
      </dgm:t>
    </dgm:pt>
    <dgm:pt modelId="{3F0804B8-4CA3-45A1-97B1-C9363BE004C1}" type="parTrans" cxnId="{EF4A4065-4355-4C27-9C5B-86048B077A06}">
      <dgm:prSet/>
      <dgm:spPr/>
      <dgm:t>
        <a:bodyPr/>
        <a:lstStyle/>
        <a:p>
          <a:endParaRPr lang="en-US"/>
        </a:p>
      </dgm:t>
    </dgm:pt>
    <dgm:pt modelId="{32030562-2E58-4430-B693-0FF28792414F}" type="sibTrans" cxnId="{EF4A4065-4355-4C27-9C5B-86048B077A06}">
      <dgm:prSet/>
      <dgm:spPr/>
      <dgm:t>
        <a:bodyPr/>
        <a:lstStyle/>
        <a:p>
          <a:endParaRPr lang="en-US"/>
        </a:p>
      </dgm:t>
    </dgm:pt>
    <dgm:pt modelId="{8B8EFFC2-6E70-4C56-AF3C-0B22B58C3ECE}">
      <dgm:prSet/>
      <dgm:spPr/>
      <dgm:t>
        <a:bodyPr/>
        <a:lstStyle/>
        <a:p>
          <a:r>
            <a:rPr lang="en-US" b="1" i="0" baseline="0"/>
            <a:t>Yếu tố quan trọng nhất?</a:t>
          </a:r>
          <a:r>
            <a:rPr lang="en-US" b="0" i="0" baseline="0"/>
            <a:t> </a:t>
          </a:r>
          <a:r>
            <a:rPr lang="en-US" b="1" i="0" baseline="0"/>
            <a:t>Glucose</a:t>
          </a:r>
          <a:r>
            <a:rPr lang="en-US" b="0" i="0" baseline="0"/>
            <a:t> là đặc trưng quyết định tuyệt đối, theo sau là </a:t>
          </a:r>
          <a:r>
            <a:rPr lang="en-US" b="1" i="0" baseline="0"/>
            <a:t>BMI</a:t>
          </a:r>
          <a:r>
            <a:rPr lang="en-US" b="0" i="0" baseline="0"/>
            <a:t> và </a:t>
          </a:r>
          <a:r>
            <a:rPr lang="en-US" b="1" i="0" baseline="0"/>
            <a:t>Tuổi (Age)</a:t>
          </a:r>
          <a:r>
            <a:rPr lang="en-US" b="0" i="0" baseline="0"/>
            <a:t>. Huyết áp gần như không có tác động rõ rệt.</a:t>
          </a:r>
          <a:endParaRPr lang="en-US"/>
        </a:p>
      </dgm:t>
    </dgm:pt>
    <dgm:pt modelId="{7042C465-E9BF-4935-AD97-CC0B839F64AB}" type="parTrans" cxnId="{DD5007E4-9265-49EE-96E8-606C3D35A7B7}">
      <dgm:prSet/>
      <dgm:spPr/>
      <dgm:t>
        <a:bodyPr/>
        <a:lstStyle/>
        <a:p>
          <a:endParaRPr lang="en-US"/>
        </a:p>
      </dgm:t>
    </dgm:pt>
    <dgm:pt modelId="{F68A1A96-0F45-4A01-85C3-DE5A2D4EB52C}" type="sibTrans" cxnId="{DD5007E4-9265-49EE-96E8-606C3D35A7B7}">
      <dgm:prSet/>
      <dgm:spPr/>
      <dgm:t>
        <a:bodyPr/>
        <a:lstStyle/>
        <a:p>
          <a:endParaRPr lang="en-US"/>
        </a:p>
      </dgm:t>
    </dgm:pt>
    <dgm:pt modelId="{ED3DE345-9BBC-4DA5-BB85-E6A4F6C2C88B}">
      <dgm:prSet/>
      <dgm:spPr/>
      <dgm:t>
        <a:bodyPr/>
        <a:lstStyle/>
        <a:p>
          <a:r>
            <a:rPr lang="en-US" b="1" i="0" baseline="0"/>
            <a:t>Tính chất dữ liệu?</a:t>
          </a:r>
          <a:r>
            <a:rPr lang="en-US" b="0" i="0" baseline="0"/>
            <a:t> Mặc dù các lớp có sự chồng lấn lớn (khó đạt Accuracy 95-100%), nhưng áp dụng chuẩn hóa (StandardScaler) và mô hình tuyến tính/siêu phẳng (LR, SVM) đã xử lý rất tốt bài toán này.</a:t>
          </a:r>
          <a:endParaRPr lang="en-US"/>
        </a:p>
      </dgm:t>
    </dgm:pt>
    <dgm:pt modelId="{A42ADBCA-5E77-4281-AF36-7839ED4E315D}" type="parTrans" cxnId="{98C116D1-9C38-4081-862A-87E23B44E7C2}">
      <dgm:prSet/>
      <dgm:spPr/>
      <dgm:t>
        <a:bodyPr/>
        <a:lstStyle/>
        <a:p>
          <a:endParaRPr lang="en-US"/>
        </a:p>
      </dgm:t>
    </dgm:pt>
    <dgm:pt modelId="{8B9A37DB-FE0A-49BB-924D-BF835BC39B58}" type="sibTrans" cxnId="{98C116D1-9C38-4081-862A-87E23B44E7C2}">
      <dgm:prSet/>
      <dgm:spPr/>
      <dgm:t>
        <a:bodyPr/>
        <a:lstStyle/>
        <a:p>
          <a:endParaRPr lang="en-US"/>
        </a:p>
      </dgm:t>
    </dgm:pt>
    <dgm:pt modelId="{C6D01649-D168-4580-8A10-040357F39AE9}" type="pres">
      <dgm:prSet presAssocID="{D011EF83-A733-4337-87D1-9C05F0C81CF0}" presName="root" presStyleCnt="0">
        <dgm:presLayoutVars>
          <dgm:dir/>
          <dgm:resizeHandles val="exact"/>
        </dgm:presLayoutVars>
      </dgm:prSet>
      <dgm:spPr/>
    </dgm:pt>
    <dgm:pt modelId="{F9694F1B-3385-4B21-8F31-7E904526F0CD}" type="pres">
      <dgm:prSet presAssocID="{086BCDD4-4C4B-4482-8887-40B29864FA21}" presName="compNode" presStyleCnt="0"/>
      <dgm:spPr/>
    </dgm:pt>
    <dgm:pt modelId="{E3B107BD-CF13-414D-A0E9-569958EE5043}" type="pres">
      <dgm:prSet presAssocID="{086BCDD4-4C4B-4482-8887-40B29864FA21}" presName="bgRect" presStyleLbl="bgShp" presStyleIdx="0" presStyleCnt="3"/>
      <dgm:spPr/>
    </dgm:pt>
    <dgm:pt modelId="{633722EE-3CDA-4E79-BE0C-BF9410EC4EC2}" type="pres">
      <dgm:prSet presAssocID="{086BCDD4-4C4B-4482-8887-40B29864FA2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ECA7DE3-99B4-4127-89E4-ED82604D14E2}" type="pres">
      <dgm:prSet presAssocID="{086BCDD4-4C4B-4482-8887-40B29864FA21}" presName="spaceRect" presStyleCnt="0"/>
      <dgm:spPr/>
    </dgm:pt>
    <dgm:pt modelId="{512E357D-4D2F-4568-8108-C837E71AEF77}" type="pres">
      <dgm:prSet presAssocID="{086BCDD4-4C4B-4482-8887-40B29864FA21}" presName="parTx" presStyleLbl="revTx" presStyleIdx="0" presStyleCnt="3">
        <dgm:presLayoutVars>
          <dgm:chMax val="0"/>
          <dgm:chPref val="0"/>
        </dgm:presLayoutVars>
      </dgm:prSet>
      <dgm:spPr/>
    </dgm:pt>
    <dgm:pt modelId="{C7948C37-2295-4978-BE2C-8943A53DB185}" type="pres">
      <dgm:prSet presAssocID="{32030562-2E58-4430-B693-0FF28792414F}" presName="sibTrans" presStyleCnt="0"/>
      <dgm:spPr/>
    </dgm:pt>
    <dgm:pt modelId="{5E18AFA8-F329-401F-B50C-2F3DFDF8B907}" type="pres">
      <dgm:prSet presAssocID="{8B8EFFC2-6E70-4C56-AF3C-0B22B58C3ECE}" presName="compNode" presStyleCnt="0"/>
      <dgm:spPr/>
    </dgm:pt>
    <dgm:pt modelId="{193BFBB9-C305-4CA2-8A24-54BD8A535808}" type="pres">
      <dgm:prSet presAssocID="{8B8EFFC2-6E70-4C56-AF3C-0B22B58C3ECE}" presName="bgRect" presStyleLbl="bgShp" presStyleIdx="1" presStyleCnt="3"/>
      <dgm:spPr/>
    </dgm:pt>
    <dgm:pt modelId="{25E24DBF-978E-49D6-8889-5723768EBBD2}" type="pres">
      <dgm:prSet presAssocID="{8B8EFFC2-6E70-4C56-AF3C-0B22B58C3EC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AB9B29B-734E-4456-990F-1E13F7FAF853}" type="pres">
      <dgm:prSet presAssocID="{8B8EFFC2-6E70-4C56-AF3C-0B22B58C3ECE}" presName="spaceRect" presStyleCnt="0"/>
      <dgm:spPr/>
    </dgm:pt>
    <dgm:pt modelId="{B21A1452-F64F-491A-BAAA-53E7CC8EC391}" type="pres">
      <dgm:prSet presAssocID="{8B8EFFC2-6E70-4C56-AF3C-0B22B58C3ECE}" presName="parTx" presStyleLbl="revTx" presStyleIdx="1" presStyleCnt="3">
        <dgm:presLayoutVars>
          <dgm:chMax val="0"/>
          <dgm:chPref val="0"/>
        </dgm:presLayoutVars>
      </dgm:prSet>
      <dgm:spPr/>
    </dgm:pt>
    <dgm:pt modelId="{B00719CE-9776-407C-8BA2-014E39EB149F}" type="pres">
      <dgm:prSet presAssocID="{F68A1A96-0F45-4A01-85C3-DE5A2D4EB52C}" presName="sibTrans" presStyleCnt="0"/>
      <dgm:spPr/>
    </dgm:pt>
    <dgm:pt modelId="{9EBE34A8-F729-40E7-BC24-2F90DA0B5759}" type="pres">
      <dgm:prSet presAssocID="{ED3DE345-9BBC-4DA5-BB85-E6A4F6C2C88B}" presName="compNode" presStyleCnt="0"/>
      <dgm:spPr/>
    </dgm:pt>
    <dgm:pt modelId="{5B6F9057-F64C-48DF-BA38-D22F1E7B1B9B}" type="pres">
      <dgm:prSet presAssocID="{ED3DE345-9BBC-4DA5-BB85-E6A4F6C2C88B}" presName="bgRect" presStyleLbl="bgShp" presStyleIdx="2" presStyleCnt="3"/>
      <dgm:spPr/>
    </dgm:pt>
    <dgm:pt modelId="{6773E920-7D98-4865-A796-AA2D588EBA3C}" type="pres">
      <dgm:prSet presAssocID="{ED3DE345-9BBC-4DA5-BB85-E6A4F6C2C88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8B87435A-6A49-4503-9168-8AAB2269A04D}" type="pres">
      <dgm:prSet presAssocID="{ED3DE345-9BBC-4DA5-BB85-E6A4F6C2C88B}" presName="spaceRect" presStyleCnt="0"/>
      <dgm:spPr/>
    </dgm:pt>
    <dgm:pt modelId="{2E43907B-B7E1-496A-8D7F-E7C1F77893BF}" type="pres">
      <dgm:prSet presAssocID="{ED3DE345-9BBC-4DA5-BB85-E6A4F6C2C88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E10CC09-AFFC-4D53-B038-82CDB0D5015F}" type="presOf" srcId="{8B8EFFC2-6E70-4C56-AF3C-0B22B58C3ECE}" destId="{B21A1452-F64F-491A-BAAA-53E7CC8EC391}" srcOrd="0" destOrd="0" presId="urn:microsoft.com/office/officeart/2018/2/layout/IconVerticalSolidList"/>
    <dgm:cxn modelId="{EF4A4065-4355-4C27-9C5B-86048B077A06}" srcId="{D011EF83-A733-4337-87D1-9C05F0C81CF0}" destId="{086BCDD4-4C4B-4482-8887-40B29864FA21}" srcOrd="0" destOrd="0" parTransId="{3F0804B8-4CA3-45A1-97B1-C9363BE004C1}" sibTransId="{32030562-2E58-4430-B693-0FF28792414F}"/>
    <dgm:cxn modelId="{DF369399-B496-437C-8415-70D126BD7FE3}" type="presOf" srcId="{ED3DE345-9BBC-4DA5-BB85-E6A4F6C2C88B}" destId="{2E43907B-B7E1-496A-8D7F-E7C1F77893BF}" srcOrd="0" destOrd="0" presId="urn:microsoft.com/office/officeart/2018/2/layout/IconVerticalSolidList"/>
    <dgm:cxn modelId="{87B16BA0-81D9-42AE-AD3C-C0DDD3D2BB71}" type="presOf" srcId="{086BCDD4-4C4B-4482-8887-40B29864FA21}" destId="{512E357D-4D2F-4568-8108-C837E71AEF77}" srcOrd="0" destOrd="0" presId="urn:microsoft.com/office/officeart/2018/2/layout/IconVerticalSolidList"/>
    <dgm:cxn modelId="{1D3ACEAD-C780-42D4-82BD-EFBC4DEBACA7}" type="presOf" srcId="{D011EF83-A733-4337-87D1-9C05F0C81CF0}" destId="{C6D01649-D168-4580-8A10-040357F39AE9}" srcOrd="0" destOrd="0" presId="urn:microsoft.com/office/officeart/2018/2/layout/IconVerticalSolidList"/>
    <dgm:cxn modelId="{98C116D1-9C38-4081-862A-87E23B44E7C2}" srcId="{D011EF83-A733-4337-87D1-9C05F0C81CF0}" destId="{ED3DE345-9BBC-4DA5-BB85-E6A4F6C2C88B}" srcOrd="2" destOrd="0" parTransId="{A42ADBCA-5E77-4281-AF36-7839ED4E315D}" sibTransId="{8B9A37DB-FE0A-49BB-924D-BF835BC39B58}"/>
    <dgm:cxn modelId="{DD5007E4-9265-49EE-96E8-606C3D35A7B7}" srcId="{D011EF83-A733-4337-87D1-9C05F0C81CF0}" destId="{8B8EFFC2-6E70-4C56-AF3C-0B22B58C3ECE}" srcOrd="1" destOrd="0" parTransId="{7042C465-E9BF-4935-AD97-CC0B839F64AB}" sibTransId="{F68A1A96-0F45-4A01-85C3-DE5A2D4EB52C}"/>
    <dgm:cxn modelId="{F1AAFDC9-99E8-4C2F-8DE9-DD509A019CE9}" type="presParOf" srcId="{C6D01649-D168-4580-8A10-040357F39AE9}" destId="{F9694F1B-3385-4B21-8F31-7E904526F0CD}" srcOrd="0" destOrd="0" presId="urn:microsoft.com/office/officeart/2018/2/layout/IconVerticalSolidList"/>
    <dgm:cxn modelId="{0DECC3BC-A19B-46C0-84CC-5B39FEBC7EC1}" type="presParOf" srcId="{F9694F1B-3385-4B21-8F31-7E904526F0CD}" destId="{E3B107BD-CF13-414D-A0E9-569958EE5043}" srcOrd="0" destOrd="0" presId="urn:microsoft.com/office/officeart/2018/2/layout/IconVerticalSolidList"/>
    <dgm:cxn modelId="{A5D32097-9A54-420B-BEAE-97D08B21593F}" type="presParOf" srcId="{F9694F1B-3385-4B21-8F31-7E904526F0CD}" destId="{633722EE-3CDA-4E79-BE0C-BF9410EC4EC2}" srcOrd="1" destOrd="0" presId="urn:microsoft.com/office/officeart/2018/2/layout/IconVerticalSolidList"/>
    <dgm:cxn modelId="{874F4495-FB76-47E9-8C54-FE905E3CDBAD}" type="presParOf" srcId="{F9694F1B-3385-4B21-8F31-7E904526F0CD}" destId="{CECA7DE3-99B4-4127-89E4-ED82604D14E2}" srcOrd="2" destOrd="0" presId="urn:microsoft.com/office/officeart/2018/2/layout/IconVerticalSolidList"/>
    <dgm:cxn modelId="{B08810B0-266D-4268-8343-84130B6A33D7}" type="presParOf" srcId="{F9694F1B-3385-4B21-8F31-7E904526F0CD}" destId="{512E357D-4D2F-4568-8108-C837E71AEF77}" srcOrd="3" destOrd="0" presId="urn:microsoft.com/office/officeart/2018/2/layout/IconVerticalSolidList"/>
    <dgm:cxn modelId="{B23D431A-29FF-49A3-B630-3769F1417EB4}" type="presParOf" srcId="{C6D01649-D168-4580-8A10-040357F39AE9}" destId="{C7948C37-2295-4978-BE2C-8943A53DB185}" srcOrd="1" destOrd="0" presId="urn:microsoft.com/office/officeart/2018/2/layout/IconVerticalSolidList"/>
    <dgm:cxn modelId="{1FBB0C8E-C141-4842-936F-89785C9FADDF}" type="presParOf" srcId="{C6D01649-D168-4580-8A10-040357F39AE9}" destId="{5E18AFA8-F329-401F-B50C-2F3DFDF8B907}" srcOrd="2" destOrd="0" presId="urn:microsoft.com/office/officeart/2018/2/layout/IconVerticalSolidList"/>
    <dgm:cxn modelId="{7789AE64-66AD-4E8E-B51C-2F60A6D3B1E0}" type="presParOf" srcId="{5E18AFA8-F329-401F-B50C-2F3DFDF8B907}" destId="{193BFBB9-C305-4CA2-8A24-54BD8A535808}" srcOrd="0" destOrd="0" presId="urn:microsoft.com/office/officeart/2018/2/layout/IconVerticalSolidList"/>
    <dgm:cxn modelId="{C4C255DF-B3C2-4AFA-97F5-6BFC85BA016A}" type="presParOf" srcId="{5E18AFA8-F329-401F-B50C-2F3DFDF8B907}" destId="{25E24DBF-978E-49D6-8889-5723768EBBD2}" srcOrd="1" destOrd="0" presId="urn:microsoft.com/office/officeart/2018/2/layout/IconVerticalSolidList"/>
    <dgm:cxn modelId="{F8F05E14-B1A9-4A5D-B6BD-7EEAB6D2A36B}" type="presParOf" srcId="{5E18AFA8-F329-401F-B50C-2F3DFDF8B907}" destId="{FAB9B29B-734E-4456-990F-1E13F7FAF853}" srcOrd="2" destOrd="0" presId="urn:microsoft.com/office/officeart/2018/2/layout/IconVerticalSolidList"/>
    <dgm:cxn modelId="{BEC35540-F083-499F-BE5F-3583BB8096FD}" type="presParOf" srcId="{5E18AFA8-F329-401F-B50C-2F3DFDF8B907}" destId="{B21A1452-F64F-491A-BAAA-53E7CC8EC391}" srcOrd="3" destOrd="0" presId="urn:microsoft.com/office/officeart/2018/2/layout/IconVerticalSolidList"/>
    <dgm:cxn modelId="{FFAF93D8-C997-4307-8206-1B61F0E625C3}" type="presParOf" srcId="{C6D01649-D168-4580-8A10-040357F39AE9}" destId="{B00719CE-9776-407C-8BA2-014E39EB149F}" srcOrd="3" destOrd="0" presId="urn:microsoft.com/office/officeart/2018/2/layout/IconVerticalSolidList"/>
    <dgm:cxn modelId="{F830F217-6440-438C-9235-1B7CEBA28269}" type="presParOf" srcId="{C6D01649-D168-4580-8A10-040357F39AE9}" destId="{9EBE34A8-F729-40E7-BC24-2F90DA0B5759}" srcOrd="4" destOrd="0" presId="urn:microsoft.com/office/officeart/2018/2/layout/IconVerticalSolidList"/>
    <dgm:cxn modelId="{898BB82C-D288-4504-A484-959BB9169522}" type="presParOf" srcId="{9EBE34A8-F729-40E7-BC24-2F90DA0B5759}" destId="{5B6F9057-F64C-48DF-BA38-D22F1E7B1B9B}" srcOrd="0" destOrd="0" presId="urn:microsoft.com/office/officeart/2018/2/layout/IconVerticalSolidList"/>
    <dgm:cxn modelId="{DF323356-E977-4D64-9431-23021B06265D}" type="presParOf" srcId="{9EBE34A8-F729-40E7-BC24-2F90DA0B5759}" destId="{6773E920-7D98-4865-A796-AA2D588EBA3C}" srcOrd="1" destOrd="0" presId="urn:microsoft.com/office/officeart/2018/2/layout/IconVerticalSolidList"/>
    <dgm:cxn modelId="{B358FE35-3E54-4334-9BC2-77046BAF3287}" type="presParOf" srcId="{9EBE34A8-F729-40E7-BC24-2F90DA0B5759}" destId="{8B87435A-6A49-4503-9168-8AAB2269A04D}" srcOrd="2" destOrd="0" presId="urn:microsoft.com/office/officeart/2018/2/layout/IconVerticalSolidList"/>
    <dgm:cxn modelId="{C6E1C810-C468-4013-A913-9157D1202AC9}" type="presParOf" srcId="{9EBE34A8-F729-40E7-BC24-2F90DA0B5759}" destId="{2E43907B-B7E1-496A-8D7F-E7C1F77893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12C3F-2031-4A7C-A3B1-92645B89BFCE}">
      <dsp:nvSpPr>
        <dsp:cNvPr id="0" name=""/>
        <dsp:cNvSpPr/>
      </dsp:nvSpPr>
      <dsp:spPr>
        <a:xfrm>
          <a:off x="0" y="0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9F541-3D27-4AE6-9AD5-4A52E80CD4FE}">
      <dsp:nvSpPr>
        <dsp:cNvPr id="0" name=""/>
        <dsp:cNvSpPr/>
      </dsp:nvSpPr>
      <dsp:spPr>
        <a:xfrm>
          <a:off x="0" y="0"/>
          <a:ext cx="7315200" cy="725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Bài toán:</a:t>
          </a:r>
          <a:r>
            <a:rPr lang="en-US" sz="1700" b="0" i="0" kern="1200" baseline="0"/>
            <a:t> Phân loại nhị phân (Binary Classification).</a:t>
          </a:r>
          <a:endParaRPr lang="en-US" sz="1700" kern="1200"/>
        </a:p>
      </dsp:txBody>
      <dsp:txXfrm>
        <a:off x="0" y="0"/>
        <a:ext cx="7315200" cy="725805"/>
      </dsp:txXfrm>
    </dsp:sp>
    <dsp:sp modelId="{F0C5309A-6369-43F2-B046-099B12EDDCAE}">
      <dsp:nvSpPr>
        <dsp:cNvPr id="0" name=""/>
        <dsp:cNvSpPr/>
      </dsp:nvSpPr>
      <dsp:spPr>
        <a:xfrm>
          <a:off x="0" y="725804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06A3D-691E-4040-9498-DEFB15E9E5EF}">
      <dsp:nvSpPr>
        <dsp:cNvPr id="0" name=""/>
        <dsp:cNvSpPr/>
      </dsp:nvSpPr>
      <dsp:spPr>
        <a:xfrm>
          <a:off x="0" y="725805"/>
          <a:ext cx="7315200" cy="725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0: Không bị tiểu đường</a:t>
          </a:r>
          <a:endParaRPr lang="en-US" sz="1700" kern="1200"/>
        </a:p>
      </dsp:txBody>
      <dsp:txXfrm>
        <a:off x="0" y="725805"/>
        <a:ext cx="7315200" cy="725805"/>
      </dsp:txXfrm>
    </dsp:sp>
    <dsp:sp modelId="{A683AF9F-018D-4B32-8DCF-3D2BCDF3CA46}">
      <dsp:nvSpPr>
        <dsp:cNvPr id="0" name=""/>
        <dsp:cNvSpPr/>
      </dsp:nvSpPr>
      <dsp:spPr>
        <a:xfrm>
          <a:off x="0" y="1451609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458B6-83CF-4E79-9E6D-552E78088FA1}">
      <dsp:nvSpPr>
        <dsp:cNvPr id="0" name=""/>
        <dsp:cNvSpPr/>
      </dsp:nvSpPr>
      <dsp:spPr>
        <a:xfrm>
          <a:off x="0" y="1451610"/>
          <a:ext cx="7315200" cy="725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1: Bị tiểu đường</a:t>
          </a:r>
          <a:endParaRPr lang="en-US" sz="1700" kern="1200"/>
        </a:p>
      </dsp:txBody>
      <dsp:txXfrm>
        <a:off x="0" y="1451610"/>
        <a:ext cx="7315200" cy="725805"/>
      </dsp:txXfrm>
    </dsp:sp>
    <dsp:sp modelId="{3C3BEC8F-A769-4538-A5D2-7FFEB48EBF83}">
      <dsp:nvSpPr>
        <dsp:cNvPr id="0" name=""/>
        <dsp:cNvSpPr/>
      </dsp:nvSpPr>
      <dsp:spPr>
        <a:xfrm>
          <a:off x="0" y="2177414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DDBB3-79F6-42E6-8811-F51CFB78916E}">
      <dsp:nvSpPr>
        <dsp:cNvPr id="0" name=""/>
        <dsp:cNvSpPr/>
      </dsp:nvSpPr>
      <dsp:spPr>
        <a:xfrm>
          <a:off x="0" y="2177415"/>
          <a:ext cx="7315200" cy="725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Mục tiêu chính:</a:t>
          </a:r>
          <a:r>
            <a:rPr lang="en-US" sz="1700" b="0" i="0" kern="1200" baseline="0"/>
            <a:t> Xây dựng mô hình học máy để dự đoán chính xác khả năng mắc bệnh dựa trên 8 đặc trưng y sinh.</a:t>
          </a:r>
          <a:endParaRPr lang="en-US" sz="1700" kern="1200"/>
        </a:p>
      </dsp:txBody>
      <dsp:txXfrm>
        <a:off x="0" y="2177415"/>
        <a:ext cx="7315200" cy="725805"/>
      </dsp:txXfrm>
    </dsp:sp>
    <dsp:sp modelId="{316B10C8-63E6-4E2A-99DB-C804DA3ECA21}">
      <dsp:nvSpPr>
        <dsp:cNvPr id="0" name=""/>
        <dsp:cNvSpPr/>
      </dsp:nvSpPr>
      <dsp:spPr>
        <a:xfrm>
          <a:off x="0" y="2903219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E960E-DBBF-40BF-9B99-651F4632C991}">
      <dsp:nvSpPr>
        <dsp:cNvPr id="0" name=""/>
        <dsp:cNvSpPr/>
      </dsp:nvSpPr>
      <dsp:spPr>
        <a:xfrm>
          <a:off x="0" y="2903220"/>
          <a:ext cx="7315200" cy="725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Câu hỏi nghiên cứu trọng tâm:</a:t>
          </a:r>
          <a:endParaRPr lang="en-US" sz="1700" kern="1200"/>
        </a:p>
      </dsp:txBody>
      <dsp:txXfrm>
        <a:off x="0" y="2903220"/>
        <a:ext cx="7315200" cy="725805"/>
      </dsp:txXfrm>
    </dsp:sp>
    <dsp:sp modelId="{B908B81F-E75F-4564-B4A3-B6D8F0ED38E6}">
      <dsp:nvSpPr>
        <dsp:cNvPr id="0" name=""/>
        <dsp:cNvSpPr/>
      </dsp:nvSpPr>
      <dsp:spPr>
        <a:xfrm>
          <a:off x="0" y="3629024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F84E0-E5D7-4106-85D7-2789BAA63A8E}">
      <dsp:nvSpPr>
        <dsp:cNvPr id="0" name=""/>
        <dsp:cNvSpPr/>
      </dsp:nvSpPr>
      <dsp:spPr>
        <a:xfrm>
          <a:off x="0" y="3629025"/>
          <a:ext cx="7315200" cy="725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Đặc trưng (Feature) nào đóng vai trò quan trọng nhất?</a:t>
          </a:r>
          <a:endParaRPr lang="en-US" sz="1700" kern="1200"/>
        </a:p>
      </dsp:txBody>
      <dsp:txXfrm>
        <a:off x="0" y="3629025"/>
        <a:ext cx="7315200" cy="725805"/>
      </dsp:txXfrm>
    </dsp:sp>
    <dsp:sp modelId="{1FED3EF3-F601-46DE-B2FA-C70E817D0512}">
      <dsp:nvSpPr>
        <dsp:cNvPr id="0" name=""/>
        <dsp:cNvSpPr/>
      </dsp:nvSpPr>
      <dsp:spPr>
        <a:xfrm>
          <a:off x="0" y="4354829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72986-7D98-4A7D-A834-2897C96D76DD}">
      <dsp:nvSpPr>
        <dsp:cNvPr id="0" name=""/>
        <dsp:cNvSpPr/>
      </dsp:nvSpPr>
      <dsp:spPr>
        <a:xfrm>
          <a:off x="0" y="4354829"/>
          <a:ext cx="7315200" cy="725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Mô hình Machine Learning nào mang lại hiệu suất tốt nhất?</a:t>
          </a:r>
          <a:endParaRPr lang="en-US" sz="1700" kern="1200"/>
        </a:p>
      </dsp:txBody>
      <dsp:txXfrm>
        <a:off x="0" y="4354829"/>
        <a:ext cx="7315200" cy="725805"/>
      </dsp:txXfrm>
    </dsp:sp>
    <dsp:sp modelId="{EE268301-A116-42FD-B6D9-6039498A8E5A}">
      <dsp:nvSpPr>
        <dsp:cNvPr id="0" name=""/>
        <dsp:cNvSpPr/>
      </dsp:nvSpPr>
      <dsp:spPr>
        <a:xfrm>
          <a:off x="0" y="5080634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C9A11-A180-4ED2-98D1-C5A659FD8B49}">
      <dsp:nvSpPr>
        <dsp:cNvPr id="0" name=""/>
        <dsp:cNvSpPr/>
      </dsp:nvSpPr>
      <dsp:spPr>
        <a:xfrm>
          <a:off x="0" y="5080635"/>
          <a:ext cx="7315200" cy="725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Dữ liệu có dễ dàng phân tách hay không?</a:t>
          </a:r>
          <a:endParaRPr lang="en-US" sz="1700" kern="1200"/>
        </a:p>
      </dsp:txBody>
      <dsp:txXfrm>
        <a:off x="0" y="5080635"/>
        <a:ext cx="7315200" cy="7258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DDF48C-4EF5-4111-9087-A84934B5DFCE}">
      <dsp:nvSpPr>
        <dsp:cNvPr id="0" name=""/>
        <dsp:cNvSpPr/>
      </dsp:nvSpPr>
      <dsp:spPr>
        <a:xfrm>
          <a:off x="2760441" y="1503897"/>
          <a:ext cx="6044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417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46774" y="1546442"/>
        <a:ext cx="31750" cy="6350"/>
      </dsp:txXfrm>
    </dsp:sp>
    <dsp:sp modelId="{22C7C864-4D52-478D-9465-E85D19166EAC}">
      <dsp:nvSpPr>
        <dsp:cNvPr id="0" name=""/>
        <dsp:cNvSpPr/>
      </dsp:nvSpPr>
      <dsp:spPr>
        <a:xfrm>
          <a:off x="1293" y="721333"/>
          <a:ext cx="2760947" cy="16565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89" tIns="142009" rIns="135289" bIns="14200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Combo đặc trưng mạnh nhất:</a:t>
          </a:r>
          <a:endParaRPr lang="en-US" sz="1300" kern="1200"/>
        </a:p>
      </dsp:txBody>
      <dsp:txXfrm>
        <a:off x="1293" y="721333"/>
        <a:ext cx="2760947" cy="1656568"/>
      </dsp:txXfrm>
    </dsp:sp>
    <dsp:sp modelId="{26AC66A2-EDDB-4D73-8282-CCE8894CF61F}">
      <dsp:nvSpPr>
        <dsp:cNvPr id="0" name=""/>
        <dsp:cNvSpPr/>
      </dsp:nvSpPr>
      <dsp:spPr>
        <a:xfrm>
          <a:off x="1381767" y="2376102"/>
          <a:ext cx="3395965" cy="604417"/>
        </a:xfrm>
        <a:custGeom>
          <a:avLst/>
          <a:gdLst/>
          <a:ahLst/>
          <a:cxnLst/>
          <a:rect l="0" t="0" r="0" b="0"/>
          <a:pathLst>
            <a:path>
              <a:moveTo>
                <a:pt x="3395965" y="0"/>
              </a:moveTo>
              <a:lnTo>
                <a:pt x="3395965" y="319308"/>
              </a:lnTo>
              <a:lnTo>
                <a:pt x="0" y="319308"/>
              </a:lnTo>
              <a:lnTo>
                <a:pt x="0" y="604417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3379" y="2675135"/>
        <a:ext cx="172741" cy="6350"/>
      </dsp:txXfrm>
    </dsp:sp>
    <dsp:sp modelId="{91FAAC4B-E480-4D0A-B5B9-60986C4833D6}">
      <dsp:nvSpPr>
        <dsp:cNvPr id="0" name=""/>
        <dsp:cNvSpPr/>
      </dsp:nvSpPr>
      <dsp:spPr>
        <a:xfrm>
          <a:off x="3397258" y="721333"/>
          <a:ext cx="2760947" cy="16565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89" tIns="142009" rIns="135289" bIns="14200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 dirty="0"/>
            <a:t>Glucose + Age: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Phân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tách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tuyệt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vời</a:t>
          </a:r>
          <a:r>
            <a:rPr lang="en-US" sz="1300" b="0" i="0" kern="1200" baseline="0" dirty="0"/>
            <a:t>. </a:t>
          </a:r>
          <a:r>
            <a:rPr lang="en-US" sz="1300" b="0" i="0" kern="1200" baseline="0" dirty="0" err="1"/>
            <a:t>Nồng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độ</a:t>
          </a:r>
          <a:r>
            <a:rPr lang="en-US" sz="1300" b="0" i="0" kern="1200" baseline="0" dirty="0"/>
            <a:t> Glucose </a:t>
          </a:r>
          <a:r>
            <a:rPr lang="en-US" sz="1300" b="0" i="0" kern="1200" baseline="0" dirty="0" err="1"/>
            <a:t>cao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kết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hợp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tuổi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cao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mở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rộng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vùng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rủi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ro</a:t>
          </a:r>
          <a:r>
            <a:rPr lang="en-US" sz="1300" b="0" i="0" kern="1200" baseline="0" dirty="0"/>
            <a:t> (</a:t>
          </a:r>
          <a:r>
            <a:rPr lang="en-US" sz="1300" b="0" i="0" kern="1200" baseline="0" dirty="0" err="1"/>
            <a:t>vùng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màu</a:t>
          </a:r>
          <a:r>
            <a:rPr lang="en-US" sz="1300" b="0" i="0" kern="1200" baseline="0" dirty="0"/>
            <a:t> </a:t>
          </a:r>
          <a:r>
            <a:rPr lang="en-US" sz="1300" b="0" i="0" kern="1200" baseline="0" dirty="0" err="1"/>
            <a:t>tím</a:t>
          </a:r>
          <a:r>
            <a:rPr lang="en-US" sz="1300" b="0" i="0" kern="1200" baseline="0" dirty="0"/>
            <a:t>).</a:t>
          </a:r>
          <a:endParaRPr lang="en-US" sz="1300" kern="1200" dirty="0"/>
        </a:p>
      </dsp:txBody>
      <dsp:txXfrm>
        <a:off x="3397258" y="721333"/>
        <a:ext cx="2760947" cy="1656568"/>
      </dsp:txXfrm>
    </dsp:sp>
    <dsp:sp modelId="{6D41F40C-8701-4131-9214-7EF2459D4E49}">
      <dsp:nvSpPr>
        <dsp:cNvPr id="0" name=""/>
        <dsp:cNvSpPr/>
      </dsp:nvSpPr>
      <dsp:spPr>
        <a:xfrm>
          <a:off x="2760441" y="3795484"/>
          <a:ext cx="6044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417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46774" y="3838029"/>
        <a:ext cx="31750" cy="6350"/>
      </dsp:txXfrm>
    </dsp:sp>
    <dsp:sp modelId="{A6FB03DE-BE64-4828-A4F6-EC087D50596F}">
      <dsp:nvSpPr>
        <dsp:cNvPr id="0" name=""/>
        <dsp:cNvSpPr/>
      </dsp:nvSpPr>
      <dsp:spPr>
        <a:xfrm>
          <a:off x="1293" y="3012919"/>
          <a:ext cx="2760947" cy="16565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89" tIns="142009" rIns="135289" bIns="14200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Glucose + BMI:</a:t>
          </a:r>
          <a:r>
            <a:rPr lang="en-US" sz="1300" b="0" i="0" kern="1200" baseline="0"/>
            <a:t> Rõ ràng, BMI cao làm bệ phóng tăng nguy cơ tiểu đường khi Glucose đã ở mức cảnh báo.</a:t>
          </a:r>
          <a:endParaRPr lang="en-US" sz="1300" kern="1200"/>
        </a:p>
      </dsp:txBody>
      <dsp:txXfrm>
        <a:off x="1293" y="3012919"/>
        <a:ext cx="2760947" cy="1656568"/>
      </dsp:txXfrm>
    </dsp:sp>
    <dsp:sp modelId="{DFAABF90-0F8A-4CAF-9DFB-377E98077AED}">
      <dsp:nvSpPr>
        <dsp:cNvPr id="0" name=""/>
        <dsp:cNvSpPr/>
      </dsp:nvSpPr>
      <dsp:spPr>
        <a:xfrm>
          <a:off x="3397258" y="3012919"/>
          <a:ext cx="2760947" cy="16565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89" tIns="142009" rIns="135289" bIns="14200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Đặc trưng yếu:</a:t>
          </a:r>
          <a:r>
            <a:rPr lang="en-US" sz="1300" b="0" i="0" kern="1200" baseline="0"/>
            <a:t> BloodPressure (Huyết áp) và Pregnancies (Số lần mang thai) tạo ra các ranh giới lộn xộn, trộn lẫn nhiều, đóng góp ít vào việc dự đoán chính xác.</a:t>
          </a:r>
          <a:endParaRPr lang="en-US" sz="1300" kern="1200"/>
        </a:p>
      </dsp:txBody>
      <dsp:txXfrm>
        <a:off x="3397258" y="3012919"/>
        <a:ext cx="2760947" cy="1656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107BD-CF13-414D-A0E9-569958EE5043}">
      <dsp:nvSpPr>
        <dsp:cNvPr id="0" name=""/>
        <dsp:cNvSpPr/>
      </dsp:nvSpPr>
      <dsp:spPr>
        <a:xfrm>
          <a:off x="0" y="708"/>
          <a:ext cx="7315200" cy="165857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722EE-3CDA-4E79-BE0C-BF9410EC4EC2}">
      <dsp:nvSpPr>
        <dsp:cNvPr id="0" name=""/>
        <dsp:cNvSpPr/>
      </dsp:nvSpPr>
      <dsp:spPr>
        <a:xfrm>
          <a:off x="501719" y="373888"/>
          <a:ext cx="912217" cy="9122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E357D-4D2F-4568-8108-C837E71AEF77}">
      <dsp:nvSpPr>
        <dsp:cNvPr id="0" name=""/>
        <dsp:cNvSpPr/>
      </dsp:nvSpPr>
      <dsp:spPr>
        <a:xfrm>
          <a:off x="1915657" y="708"/>
          <a:ext cx="5399542" cy="1658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533" tIns="175533" rIns="175533" bIns="17553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Mô hình tốt nhất?</a:t>
          </a:r>
          <a:r>
            <a:rPr lang="en-US" sz="1500" b="0" i="0" kern="1200" baseline="0"/>
            <a:t> Support Vector Machine (SVM) và Logistic Regression cho hiệu suất cao và ổn định nhất trên tập dữ liệu này.</a:t>
          </a:r>
          <a:endParaRPr lang="en-US" sz="1500" kern="1200"/>
        </a:p>
      </dsp:txBody>
      <dsp:txXfrm>
        <a:off x="1915657" y="708"/>
        <a:ext cx="5399542" cy="1658577"/>
      </dsp:txXfrm>
    </dsp:sp>
    <dsp:sp modelId="{193BFBB9-C305-4CA2-8A24-54BD8A535808}">
      <dsp:nvSpPr>
        <dsp:cNvPr id="0" name=""/>
        <dsp:cNvSpPr/>
      </dsp:nvSpPr>
      <dsp:spPr>
        <a:xfrm>
          <a:off x="0" y="2073931"/>
          <a:ext cx="7315200" cy="165857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24DBF-978E-49D6-8889-5723768EBBD2}">
      <dsp:nvSpPr>
        <dsp:cNvPr id="0" name=""/>
        <dsp:cNvSpPr/>
      </dsp:nvSpPr>
      <dsp:spPr>
        <a:xfrm>
          <a:off x="501719" y="2447111"/>
          <a:ext cx="912217" cy="9122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A1452-F64F-491A-BAAA-53E7CC8EC391}">
      <dsp:nvSpPr>
        <dsp:cNvPr id="0" name=""/>
        <dsp:cNvSpPr/>
      </dsp:nvSpPr>
      <dsp:spPr>
        <a:xfrm>
          <a:off x="1915657" y="2073931"/>
          <a:ext cx="5399542" cy="1658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533" tIns="175533" rIns="175533" bIns="17553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Yếu tố quan trọng nhất?</a:t>
          </a:r>
          <a:r>
            <a:rPr lang="en-US" sz="1500" b="0" i="0" kern="1200" baseline="0"/>
            <a:t> </a:t>
          </a:r>
          <a:r>
            <a:rPr lang="en-US" sz="1500" b="1" i="0" kern="1200" baseline="0"/>
            <a:t>Glucose</a:t>
          </a:r>
          <a:r>
            <a:rPr lang="en-US" sz="1500" b="0" i="0" kern="1200" baseline="0"/>
            <a:t> là đặc trưng quyết định tuyệt đối, theo sau là </a:t>
          </a:r>
          <a:r>
            <a:rPr lang="en-US" sz="1500" b="1" i="0" kern="1200" baseline="0"/>
            <a:t>BMI</a:t>
          </a:r>
          <a:r>
            <a:rPr lang="en-US" sz="1500" b="0" i="0" kern="1200" baseline="0"/>
            <a:t> và </a:t>
          </a:r>
          <a:r>
            <a:rPr lang="en-US" sz="1500" b="1" i="0" kern="1200" baseline="0"/>
            <a:t>Tuổi (Age)</a:t>
          </a:r>
          <a:r>
            <a:rPr lang="en-US" sz="1500" b="0" i="0" kern="1200" baseline="0"/>
            <a:t>. Huyết áp gần như không có tác động rõ rệt.</a:t>
          </a:r>
          <a:endParaRPr lang="en-US" sz="1500" kern="1200"/>
        </a:p>
      </dsp:txBody>
      <dsp:txXfrm>
        <a:off x="1915657" y="2073931"/>
        <a:ext cx="5399542" cy="1658577"/>
      </dsp:txXfrm>
    </dsp:sp>
    <dsp:sp modelId="{5B6F9057-F64C-48DF-BA38-D22F1E7B1B9B}">
      <dsp:nvSpPr>
        <dsp:cNvPr id="0" name=""/>
        <dsp:cNvSpPr/>
      </dsp:nvSpPr>
      <dsp:spPr>
        <a:xfrm>
          <a:off x="0" y="4147153"/>
          <a:ext cx="7315200" cy="165857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3E920-7D98-4865-A796-AA2D588EBA3C}">
      <dsp:nvSpPr>
        <dsp:cNvPr id="0" name=""/>
        <dsp:cNvSpPr/>
      </dsp:nvSpPr>
      <dsp:spPr>
        <a:xfrm>
          <a:off x="501719" y="4520333"/>
          <a:ext cx="912217" cy="9122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3907B-B7E1-496A-8D7F-E7C1F77893BF}">
      <dsp:nvSpPr>
        <dsp:cNvPr id="0" name=""/>
        <dsp:cNvSpPr/>
      </dsp:nvSpPr>
      <dsp:spPr>
        <a:xfrm>
          <a:off x="1915657" y="4147153"/>
          <a:ext cx="5399542" cy="1658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533" tIns="175533" rIns="175533" bIns="17553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Tính chất dữ liệu?</a:t>
          </a:r>
          <a:r>
            <a:rPr lang="en-US" sz="1500" b="0" i="0" kern="1200" baseline="0"/>
            <a:t> Mặc dù các lớp có sự chồng lấn lớn (khó đạt Accuracy 95-100%), nhưng áp dụng chuẩn hóa (StandardScaler) và mô hình tuyến tính/siêu phẳng (LR, SVM) đã xử lý rất tốt bài toán này.</a:t>
          </a:r>
          <a:endParaRPr lang="en-US" sz="1500" kern="1200"/>
        </a:p>
      </dsp:txBody>
      <dsp:txXfrm>
        <a:off x="1915657" y="4147153"/>
        <a:ext cx="5399542" cy="1658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055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BEB9-B792-03A8-E487-C73C9E3D1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927D2-9C5B-1C6C-ADC3-4FEC7BFA5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857B5-6B8A-85D7-9664-1BB1A64E5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96A0D-A5A1-B534-A23E-8C8527340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00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258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54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224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625284"/>
            <a:ext cx="8686801" cy="2565902"/>
          </a:xfrm>
        </p:spPr>
        <p:txBody>
          <a:bodyPr>
            <a:normAutofit fontScale="90000"/>
          </a:bodyPr>
          <a:lstStyle/>
          <a:p>
            <a:r>
              <a:rPr lang="vi-VN" dirty="0"/>
              <a:t>Dự đoán Bệnh Tiểu Đường sử dụng Machine Learning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rmAutofit/>
          </a:bodyPr>
          <a:lstStyle/>
          <a:p>
            <a:r>
              <a:rPr lang="en-US" dirty="0"/>
              <a:t>Trường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Sài</a:t>
            </a:r>
            <a:r>
              <a:rPr lang="en-US" dirty="0"/>
              <a:t> </a:t>
            </a:r>
            <a:r>
              <a:rPr lang="en-US" dirty="0" err="1"/>
              <a:t>Gòn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D6D4E-4370-3E19-B380-FBC579CF48B8}"/>
              </a:ext>
            </a:extLst>
          </p:cNvPr>
          <p:cNvSpPr txBox="1"/>
          <p:nvPr/>
        </p:nvSpPr>
        <p:spPr>
          <a:xfrm>
            <a:off x="1930708" y="5367831"/>
            <a:ext cx="60942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err="1">
                <a:latin typeface="+mj-lt"/>
              </a:rPr>
              <a:t>Phân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tích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dữ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liệu</a:t>
            </a:r>
            <a:r>
              <a:rPr lang="en-US" sz="2200" b="1" dirty="0">
                <a:latin typeface="+mj-lt"/>
              </a:rPr>
              <a:t> y </a:t>
            </a:r>
            <a:r>
              <a:rPr lang="en-US" sz="2200" b="1" dirty="0" err="1">
                <a:latin typeface="+mj-lt"/>
              </a:rPr>
              <a:t>sinh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học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để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xây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dựng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mô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hình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phân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loại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nhị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phân</a:t>
            </a:r>
            <a:r>
              <a:rPr lang="en-US" sz="2200" b="1" dirty="0">
                <a:latin typeface="+mj-lt"/>
              </a:rPr>
              <a:t>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458D7BE-0815-1EE6-9256-AC039839B2C5}"/>
              </a:ext>
            </a:extLst>
          </p:cNvPr>
          <p:cNvSpPr txBox="1">
            <a:spLocks/>
          </p:cNvSpPr>
          <p:nvPr/>
        </p:nvSpPr>
        <p:spPr>
          <a:xfrm>
            <a:off x="6689172" y="1716191"/>
            <a:ext cx="3024899" cy="547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/>
          <a:p>
            <a:r>
              <a:rPr lang="en-US" dirty="0"/>
              <a:t>Welcome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7270AD1A-8F9F-BF9D-AE26-986ADE7EF35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" r="46466" b="-1"/>
          <a:stretch>
            <a:fillRect/>
          </a:stretch>
        </p:blipFill>
        <p:spPr>
          <a:xfrm>
            <a:off x="358140" y="333756"/>
            <a:ext cx="5740908" cy="6190488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Thành </a:t>
            </a:r>
            <a:r>
              <a:rPr lang="en-US" b="1" dirty="0" err="1"/>
              <a:t>viên</a:t>
            </a:r>
            <a:r>
              <a:rPr lang="en-US" b="1" dirty="0"/>
              <a:t>.</a:t>
            </a:r>
          </a:p>
          <a:p>
            <a:r>
              <a:rPr lang="en-US" dirty="0"/>
              <a:t>Văn Nguyễn Thành Đạt</a:t>
            </a:r>
          </a:p>
          <a:p>
            <a:r>
              <a:rPr lang="en-US" dirty="0"/>
              <a:t>Dương Gia </a:t>
            </a:r>
            <a:r>
              <a:rPr lang="en-US" dirty="0" err="1"/>
              <a:t>Phát</a:t>
            </a:r>
            <a:endParaRPr lang="en-US" dirty="0"/>
          </a:p>
          <a:p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Trần</a:t>
            </a:r>
            <a:r>
              <a:rPr lang="en-US" dirty="0"/>
              <a:t> Minh Tiến</a:t>
            </a:r>
          </a:p>
          <a:p>
            <a:r>
              <a:rPr lang="en-US" dirty="0"/>
              <a:t>Lê Văn Hiếu</a:t>
            </a:r>
          </a:p>
        </p:txBody>
      </p:sp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rmAutofit/>
          </a:bodyPr>
          <a:lstStyle/>
          <a:p>
            <a:r>
              <a:rPr lang="pt-BR" dirty="0"/>
              <a:t>Đặt vấn đề &amp; Mục tiêu (Problem &amp; Objectives)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0035D52-A475-6A1C-71A4-50FA22CA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/>
          <a:lstStyle/>
          <a:p>
            <a:r>
              <a:rPr lang="en-US" dirty="0"/>
              <a:t>Problem &amp; Objectives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218CA61-504E-EEEF-5BC0-0774863AC97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65554054"/>
              </p:ext>
            </p:extLst>
          </p:nvPr>
        </p:nvGraphicFramePr>
        <p:xfrm>
          <a:off x="4504268" y="549274"/>
          <a:ext cx="7315200" cy="580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4C7B7-4F34-2BC1-D408-9063ACA2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CDFA4AD-0D41-9E21-9FAE-64A23C7E6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 anchor="t">
            <a:noAutofit/>
          </a:bodyPr>
          <a:lstStyle/>
          <a:p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principal component analysis (PCA)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→ 2 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2D 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X: PC1 (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Y: PC2 (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🔴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🔵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Ý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chồng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gaussian naive bayes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~77% accuracy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EFF2CA-7D00-B1F8-F16B-3285FA66DA3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884" y="877456"/>
            <a:ext cx="5431558" cy="53908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6662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1BC45-CAED-BB43-A297-009708D5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B897C-9D62-36E3-5DC1-154478A93E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3662" y="561268"/>
            <a:ext cx="9264676" cy="5735465"/>
          </a:xfrm>
        </p:spPr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(Data Overview)</a:t>
            </a:r>
          </a:p>
        </p:txBody>
      </p:sp>
    </p:spTree>
    <p:extLst>
      <p:ext uri="{BB962C8B-B14F-4D97-AF65-F5344CB8AC3E}">
        <p14:creationId xmlns:p14="http://schemas.microsoft.com/office/powerpoint/2010/main" val="294928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72A-5F3E-FB56-A498-3CACC2B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/>
          <a:p>
            <a:r>
              <a:rPr lang="en-US" dirty="0"/>
              <a:t>Data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CF21CE-F7F2-C42F-576B-119E71E68F28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3977640" y="561425"/>
            <a:ext cx="7772400" cy="224028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Input (8 </a:t>
            </a:r>
            <a:r>
              <a:rPr kumimoji="0" lang="en-US" altLang="en-US" sz="1700" b="1" i="0" u="none" strike="noStrike" cap="none" normalizeH="0" baseline="0" err="1">
                <a:ln>
                  <a:noFill/>
                </a:ln>
                <a:effectLst/>
              </a:rPr>
              <a:t>Đặc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1" i="0" u="none" strike="noStrike" cap="none" normalizeH="0" baseline="0" err="1">
                <a:ln>
                  <a:noFill/>
                </a:ln>
                <a:effectLst/>
              </a:rPr>
              <a:t>trưng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):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* </a:t>
            </a:r>
            <a:r>
              <a:rPr kumimoji="0" lang="en-US" altLang="en-US" sz="1700" b="0" i="1" u="none" strike="noStrike" cap="none" normalizeH="0" baseline="0" err="1">
                <a:ln>
                  <a:noFill/>
                </a:ln>
                <a:effectLst/>
              </a:rPr>
              <a:t>Nhóm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1" u="none" strike="noStrike" cap="none" normalizeH="0" baseline="0" err="1">
                <a:ln>
                  <a:noFill/>
                </a:ln>
                <a:effectLst/>
              </a:rPr>
              <a:t>cốt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1" u="none" strike="noStrike" cap="none" normalizeH="0" baseline="0" err="1">
                <a:ln>
                  <a:noFill/>
                </a:ln>
                <a:effectLst/>
              </a:rPr>
              <a:t>lõi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</a:rPr>
              <a:t>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Glucose, BMI, Age (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Tuổi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), Insulin.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1" u="none" strike="noStrike" cap="none" normalizeH="0" baseline="0" err="1">
                <a:ln>
                  <a:noFill/>
                </a:ln>
                <a:effectLst/>
              </a:rPr>
              <a:t>Nhóm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1" u="none" strike="noStrike" cap="none" normalizeH="0" baseline="0" err="1">
                <a:ln>
                  <a:noFill/>
                </a:ln>
                <a:effectLst/>
              </a:rPr>
              <a:t>phụ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1" u="none" strike="noStrike" cap="none" normalizeH="0" baseline="0" err="1">
                <a:ln>
                  <a:noFill/>
                </a:ln>
                <a:effectLst/>
              </a:rPr>
              <a:t>trợ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</a:rPr>
              <a:t>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Pregnancies (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Số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lần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mang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thai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),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BloodPressure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(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Huyết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áp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),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SkinThickness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(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Độ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dày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da),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DiabetesPedigreeFunction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(Di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truyền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Dữ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liệu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có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sự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khác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biệt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rõ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rệt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ở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người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bệnh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và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không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bệnh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(VD: Glucose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người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bệnh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thường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~183,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người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không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bệnh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~85).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Dữ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liệu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đã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được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làm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sạch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cơ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bản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(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không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có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giá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trị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NaN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hay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số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0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bất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hợp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700" b="0" i="0" u="none" strike="noStrike" cap="none" normalizeH="0" baseline="0" err="1">
                <a:ln>
                  <a:noFill/>
                </a:ln>
                <a:effectLst/>
              </a:rPr>
              <a:t>lý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50A834-5604-A0FD-005D-F5922707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170545"/>
            <a:ext cx="12192000" cy="35966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rmAutofit/>
          </a:bodyPr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PCA (Data Distribution)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6960-6EB7-5543-D7E2-21C56C33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>
            <a:normAutofit/>
          </a:bodyPr>
          <a:lstStyle/>
          <a:p>
            <a:r>
              <a:rPr lang="en-US" dirty="0"/>
              <a:t>Data Distribution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8AE6832-0458-4409-C0EB-5DD0B1BC79D9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859536" y="2438545"/>
            <a:ext cx="4366917" cy="351215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Mục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đích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Giảm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8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chiều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xuống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2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chiều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(PC1, PC2)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để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trực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quan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hóa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Kết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quả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Có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sự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chồng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lấn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lớn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giữa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hai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nhóm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Đỏ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-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Không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bệnh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, Xanh -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Bị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bệnh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Không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tồn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tại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ranh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giới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phân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tách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(decision boundary)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rõ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ràng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tuyệt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đối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Kết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luận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Bài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toán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khá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phức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tạp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do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nhiễu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Điều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này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giải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thích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vì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sao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mô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hình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cơ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bản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như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Naive Bayes)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bị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kẹt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ở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mức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Accuracy ~77%.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F7DBD-4124-5FFA-3AAD-F69620351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2" r="5455" b="1"/>
          <a:stretch>
            <a:fillRect/>
          </a:stretch>
        </p:blipFill>
        <p:spPr>
          <a:xfrm>
            <a:off x="8864207" y="3501736"/>
            <a:ext cx="2971754" cy="3022507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A10122-F961-FE3A-9DE4-E4020E3D2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261" y="3479595"/>
            <a:ext cx="3425946" cy="30446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4C4E85-5C1A-E053-372F-E545B4D16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261" y="2051830"/>
            <a:ext cx="5943600" cy="77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26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7C75-23C9-17A3-16B6-ECD423E5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322" y="5137616"/>
            <a:ext cx="8054173" cy="46634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B8CF-9E22-6779-27CB-25347B9558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3371" y="1188720"/>
            <a:ext cx="8593017" cy="2174966"/>
          </a:xfrm>
        </p:spPr>
        <p:txBody>
          <a:bodyPr>
            <a:noAutofit/>
          </a:bodyPr>
          <a:lstStyle/>
          <a:p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Hiệu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(Model Comparison)</a:t>
            </a:r>
          </a:p>
        </p:txBody>
      </p:sp>
    </p:spTree>
    <p:extLst>
      <p:ext uri="{BB962C8B-B14F-4D97-AF65-F5344CB8AC3E}">
        <p14:creationId xmlns:p14="http://schemas.microsoft.com/office/powerpoint/2010/main" val="272877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E4DC-DB1C-E617-0CDF-6ADDCDF4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197F-1C0E-E1A9-6540-0C64427A2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>
            <a:normAutofit/>
          </a:bodyPr>
          <a:lstStyle/>
          <a:p>
            <a:r>
              <a:rPr lang="en-US"/>
              <a:t>Model Comparison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A5E986-921A-A48F-07BB-E290D5640758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859536" y="2438545"/>
            <a:ext cx="4366917" cy="351215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Đánh giá tổng quan:</a:t>
            </a:r>
            <a:endParaRPr kumimoji="0"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Tốt nhất &amp; Ổn định nhất: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SVM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và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LDA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(Median Accuracy ~0.76 - 0.78).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Khá tốt: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Logistic Regression (LR) và Naive Bayes (NB) (Median ~0.75 - 0.77).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Kém nhất: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Decision Tree (CART) (Median ~0.70, dao động lớn, không ổn định).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Chỉ số của mô hình Logistic Regression sau khi tinh chỉnh:</a:t>
            </a:r>
            <a:endParaRPr kumimoji="0"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Accuracy: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82.5% |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Precision: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75.6% |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Recall: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64.6%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effectLst/>
              </a:rPr>
              <a:t>Nhận xét: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Mô hình bắt được pattern tốt đối với các trường hợp có Glucose và BMI cao.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2A7C2A-1A3A-8777-5154-36AB5A108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5" r="16988" b="2"/>
          <a:stretch>
            <a:fillRect/>
          </a:stretch>
        </p:blipFill>
        <p:spPr>
          <a:xfrm>
            <a:off x="8667542" y="3301713"/>
            <a:ext cx="3168419" cy="3222531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A5ADDC-212A-72E7-A34D-888E89A12E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424" y="3301713"/>
            <a:ext cx="3740118" cy="3222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5D8719-FC26-52CB-69BD-E8771BA2B5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864" y="499515"/>
            <a:ext cx="5965097" cy="280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35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065939-75F7-0060-8214-CB52FF464016}"/>
              </a:ext>
            </a:extLst>
          </p:cNvPr>
          <p:cNvSpPr txBox="1"/>
          <p:nvPr/>
        </p:nvSpPr>
        <p:spPr>
          <a:xfrm>
            <a:off x="372532" y="592674"/>
            <a:ext cx="3494314" cy="57196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Mỗi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dòng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[Pregnancies, Glucose,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BloodPressure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SkinThickness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Insulin, BMI, DPF, Age]</a:t>
            </a:r>
          </a:p>
          <a:p>
            <a:pPr marL="0" marR="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Phía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trên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là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Label: 0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hoặc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Label: 1</a:t>
            </a:r>
          </a:p>
          <a:p>
            <a:pPr marL="0" marR="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Label = 0 →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Không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bị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tiểu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đường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Label = 1 →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Bị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tiểu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đường</a:t>
            </a:r>
            <a:endParaRPr lang="en-US" sz="1600" b="0" kern="1200" cap="all" spc="50" baseline="0" dirty="0"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Nhóm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Label = 1 </a:t>
            </a:r>
          </a:p>
          <a:p>
            <a:pPr marL="342900" marR="0" lvl="0" indent="-34290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Glucose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thường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cao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hơn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BMI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thường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cao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hơn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Age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có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xu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hướng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lớn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hơn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Nhóm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Label = 0 </a:t>
            </a:r>
          </a:p>
          <a:p>
            <a:pPr marL="342900" marR="0" lvl="0" indent="-34290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Glucose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thấp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hơn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BMI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thấp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hơn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Insight:</a:t>
            </a:r>
          </a:p>
          <a:p>
            <a:pPr marL="0" marR="0">
              <a:lnSpc>
                <a:spcPct val="8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Glucose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là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đặc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trưng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quan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trọng</a:t>
            </a:r>
            <a:r>
              <a:rPr lang="en-US" sz="1600" b="0" kern="1200" cap="all" spc="50" baseline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600" b="0" kern="1200" cap="all" spc="50" baseline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nhất</a:t>
            </a:r>
            <a:endParaRPr lang="en-US" sz="1600" b="0" kern="1200" cap="all" spc="50" baseline="0" dirty="0"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A765E4-A80E-EFC1-330D-D15EE566C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268" y="663575"/>
            <a:ext cx="7315200" cy="55778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0918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6E2C-040E-4D92-F9F7-F61C47F4F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/>
          <a:p>
            <a:r>
              <a:rPr lang="en-US" dirty="0" err="1"/>
              <a:t>Khám</a:t>
            </a:r>
            <a:r>
              <a:rPr lang="en-US" dirty="0"/>
              <a:t> </a:t>
            </a:r>
            <a:r>
              <a:rPr lang="en-US" dirty="0" err="1"/>
              <a:t>phá</a:t>
            </a:r>
            <a:r>
              <a:rPr lang="en-US" dirty="0"/>
              <a:t> "</a:t>
            </a:r>
            <a:r>
              <a:rPr lang="en-US" dirty="0" err="1"/>
              <a:t>Hộp</a:t>
            </a:r>
            <a:r>
              <a:rPr lang="en-US" dirty="0"/>
              <a:t> </a:t>
            </a:r>
            <a:r>
              <a:rPr lang="en-US" dirty="0" err="1"/>
              <a:t>đen</a:t>
            </a:r>
            <a:r>
              <a:rPr lang="en-US" dirty="0"/>
              <a:t>" </a:t>
            </a:r>
            <a:r>
              <a:rPr lang="en-US" dirty="0" err="1"/>
              <a:t>với</a:t>
            </a:r>
            <a:r>
              <a:rPr lang="en-US" dirty="0"/>
              <a:t> Decision Tree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E18F-CF72-C06C-3020-B9FA4DEAB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Feature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93D4F-504C-EDA3-271B-4CE26CB41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059C-D2D2-FE36-64FA-9AD00E76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/>
          <a:p>
            <a:r>
              <a:rPr lang="vi-VN" dirty="0"/>
              <a:t>sơ đồ Cây Quyết Định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3E316-0ABD-9C2F-9434-C14A343D46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79" b="-1"/>
          <a:stretch>
            <a:fillRect/>
          </a:stretch>
        </p:blipFill>
        <p:spPr>
          <a:xfrm>
            <a:off x="-1" y="10"/>
            <a:ext cx="6577446" cy="3778260"/>
          </a:xfrm>
          <a:prstGeom prst="rect">
            <a:avLst/>
          </a:prstGeom>
          <a:noFill/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8CAFD6D-2037-1E62-FFBC-621444AB1599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3977640" y="4162318"/>
            <a:ext cx="7772400" cy="224028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Tuy CART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có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độ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ổn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định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thấp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nhưng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mang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lại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khả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năng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giải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thích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(Interpretability)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xuất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sắc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Luật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ra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quyết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định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(Decision Rules):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Gốc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rễ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(Root node):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Nồng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độ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Glucose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(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Ngưỡng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132.5).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Đây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là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yếu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tố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phân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tách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rạch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ròi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nhất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Nhánh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+mj-lt"/>
              </a:rPr>
              <a:t> an </a:t>
            </a:r>
            <a:r>
              <a:rPr kumimoji="0" lang="en-US" altLang="en-US" sz="1300" b="0" i="1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toàn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+mj-lt"/>
              </a:rPr>
              <a:t>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Người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trẻ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(Age ≤ 30.5) + Glucose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thấp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+ BMI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bình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thường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$\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rightarrow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$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Gần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như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KHÔNG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mắc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bệnh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Nhánh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1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rủi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1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ro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+mj-lt"/>
              </a:rPr>
              <a:t>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Glucose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cao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+ BMI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cao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$\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rightarrow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$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Tỷ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lệ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mắc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bệnh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RẤT CAO. Insulin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sâu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trong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nhánh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giúp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tinh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chỉnh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phân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loại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các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ca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khó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40D95A-9D8B-E1C7-C7E4-E67697AFF0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209" y="-39673"/>
            <a:ext cx="5591791" cy="37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91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0F09-96ED-B56E-D1B6-3CDDBAC8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7553-7F1C-4531-37E9-E45620D1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322" y="5137616"/>
            <a:ext cx="8054173" cy="46634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9BE67-FA14-3083-F3BC-80CA886941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3371" y="1188720"/>
            <a:ext cx="8593017" cy="2174966"/>
          </a:xfrm>
        </p:spPr>
        <p:txBody>
          <a:bodyPr>
            <a:noAutofit/>
          </a:bodyPr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Ranh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(Decision Boundaries)</a:t>
            </a:r>
          </a:p>
        </p:txBody>
      </p:sp>
    </p:spTree>
    <p:extLst>
      <p:ext uri="{BB962C8B-B14F-4D97-AF65-F5344CB8AC3E}">
        <p14:creationId xmlns:p14="http://schemas.microsoft.com/office/powerpoint/2010/main" val="3779517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09250-4320-F933-985A-B65FCB1C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F9DDC-C7F1-8682-99A8-9A7B7879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 anchor="t">
            <a:normAutofit/>
          </a:bodyPr>
          <a:lstStyle/>
          <a:p>
            <a:r>
              <a:rPr lang="en-US" dirty="0"/>
              <a:t>Decision Boundaries</a:t>
            </a:r>
          </a:p>
        </p:txBody>
      </p:sp>
      <p:graphicFrame>
        <p:nvGraphicFramePr>
          <p:cNvPr id="12" name="Rectangle 2">
            <a:extLst>
              <a:ext uri="{FF2B5EF4-FFF2-40B4-BE49-F238E27FC236}">
                <a16:creationId xmlns:a16="http://schemas.microsoft.com/office/drawing/2014/main" id="{A9F0B649-B3B6-0B40-97DF-088597CFBB4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37968520"/>
              </p:ext>
            </p:extLst>
          </p:nvPr>
        </p:nvGraphicFramePr>
        <p:xfrm>
          <a:off x="5522913" y="877456"/>
          <a:ext cx="6159500" cy="5390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8823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5766C-48DA-41C9-F981-149AB3DC9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1160-C0C4-CAF3-EBE2-8CC7AD3D1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rmAutofit/>
          </a:bodyPr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&amp;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(Conclusion)</a:t>
            </a:r>
          </a:p>
        </p:txBody>
      </p:sp>
    </p:spTree>
    <p:extLst>
      <p:ext uri="{BB962C8B-B14F-4D97-AF65-F5344CB8AC3E}">
        <p14:creationId xmlns:p14="http://schemas.microsoft.com/office/powerpoint/2010/main" val="109634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06E1-224A-957E-191F-7FAEEAD4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1C44DFF-2648-87F5-7B33-06A7FB370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 anchor="t">
            <a:normAutofit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Conclusion</a:t>
            </a:r>
          </a:p>
        </p:txBody>
      </p:sp>
      <p:graphicFrame>
        <p:nvGraphicFramePr>
          <p:cNvPr id="12" name="Rectangle 1">
            <a:extLst>
              <a:ext uri="{FF2B5EF4-FFF2-40B4-BE49-F238E27FC236}">
                <a16:creationId xmlns:a16="http://schemas.microsoft.com/office/drawing/2014/main" id="{79457C47-B557-7BCA-E069-EE7122131E1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23780820"/>
              </p:ext>
            </p:extLst>
          </p:nvPr>
        </p:nvGraphicFramePr>
        <p:xfrm>
          <a:off x="4504268" y="549274"/>
          <a:ext cx="7315200" cy="580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30819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{B6151618-2AED-4F02-9F2C-5FDBAC03F030}f4c2fa09-5552-4190-875c-1979579583e2-TFc553d604-a3b6-4c52-b2ed-3a769335c0fd_win32</Template>
  <TotalTime>44</TotalTime>
  <Words>1129</Words>
  <Application>Microsoft Office PowerPoint</Application>
  <PresentationFormat>Widescreen</PresentationFormat>
  <Paragraphs>79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Lora</vt:lpstr>
      <vt:lpstr>Playfair Display Black</vt:lpstr>
      <vt:lpstr>Poppins Light</vt:lpstr>
      <vt:lpstr>Times New Roman</vt:lpstr>
      <vt:lpstr>Gradient Circle</vt:lpstr>
      <vt:lpstr>Dự đoán Bệnh Tiểu Đường sử dụng Machine Learning</vt:lpstr>
      <vt:lpstr>Welcome</vt:lpstr>
      <vt:lpstr>Đặt vấn đề &amp; Mục tiêu (Problem &amp; Objectives)</vt:lpstr>
      <vt:lpstr>Problem &amp; Objectives</vt:lpstr>
      <vt:lpstr>Mục đích sử dụng PCA trong bài toán, phương pháp principal component analysis (PCA) được sử dụng để: giảm số chiều dữ liệu từ 8 → 2  trực quan hóa dữ liệu trên mặt phẳng 2D  quan sát khả năng phân tách giữa hai lớp 🔹 kết quả trực quan hóa biểu đồ PCA thể hiện: trục X: PC1 (thành phần chính thứ nhất)  trục Y: PC2 (thành phần chính thứ hai)  màu sắc:  🔴 đỏ: không bị tiểu đường  🔵 xanh: bị tiểu đường 🔹 Ý nghĩa đối với mô hình từ PCA có thể rút ra: dữ liệu có sự chồng lấn lớn giữa hai lớp  không tồn tại ranh giới phân tách rõ ràng  điều này giải thích vì sao:  mô hình gaussian naive bayes chỉ đạt ~77% accuracy</vt:lpstr>
      <vt:lpstr>Quote</vt:lpstr>
      <vt:lpstr>Data Overview</vt:lpstr>
      <vt:lpstr>Phân tích Không gian Dữ liệu bằng PCA (Data Distribution)</vt:lpstr>
      <vt:lpstr>Data Distribution</vt:lpstr>
      <vt:lpstr>PowerPoint Presentation</vt:lpstr>
      <vt:lpstr>Model Comparison</vt:lpstr>
      <vt:lpstr>PowerPoint Presentation</vt:lpstr>
      <vt:lpstr>Khám phá "Hộp đen" với Decision Tree </vt:lpstr>
      <vt:lpstr>sơ đồ Cây Quyết Định</vt:lpstr>
      <vt:lpstr>PowerPoint Presentation</vt:lpstr>
      <vt:lpstr>Decision Boundaries</vt:lpstr>
      <vt:lpstr>Kết luận &amp; Giải đáp Câu hỏi Nghiên cứu (Conclusion)</vt:lpstr>
      <vt:lpstr>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Văn Hiếu</dc:creator>
  <cp:lastModifiedBy>Lê Văn Hiếu</cp:lastModifiedBy>
  <cp:revision>1</cp:revision>
  <dcterms:created xsi:type="dcterms:W3CDTF">2026-03-29T07:51:22Z</dcterms:created>
  <dcterms:modified xsi:type="dcterms:W3CDTF">2026-03-29T08:36:20Z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